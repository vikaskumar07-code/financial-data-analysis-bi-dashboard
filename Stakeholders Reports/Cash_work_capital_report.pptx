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32DD-9A2B-ECC3-254C-F762FEC98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3FF2F-EBC6-67AC-4ACA-BB1B70284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721E-4EF1-7C3A-CCD9-29E902EA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24129-FED3-C18F-A89B-D4E07219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079E-9262-A7E4-7E7B-D5DFE7CE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2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14EB-F26D-5887-52E1-21D76E76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78AC8-C87A-E8DF-FCE0-C62E0AF82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29E50-C7AE-B614-2E6C-B3C244DF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15E35-2075-50AE-2EFC-59669009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ACD7-7E2C-A423-7BBC-9F226B07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1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6815-10D7-C987-2443-AD7680D3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22FD6-05BA-0F84-F65C-667832C62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5DD07-D5F9-17FC-09DC-A50ECFED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4C2AE-B9E0-E4C7-C039-BDF3F1A2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1FAF8-107C-E90D-20E5-65EA4EA1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72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997E-C873-D5AB-18BD-F6BE6116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2337-8DF3-C563-0C2D-EC98BEBFB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F4CA0-D25C-458A-AAD0-0397D5C53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82CCC-B180-5CB1-9636-51794B41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727F6-DBC3-BA48-7927-7681FCC0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92A7E-8F40-EE76-41FB-D3337DD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811A-0252-518C-D41F-71D21BB5B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A4175-16EC-063C-9F35-A4A23E327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CDCBD-A6F8-FE57-C8BD-4C6DD8106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82459-E163-7B04-9168-9DB9D7DA1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6F5D2-51DA-B027-FABB-E1087D56D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75CC1-8B85-F274-A63D-062A6E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E5DEF-FE38-B611-63BF-026444B1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AEBC7-68DD-4311-2976-49BB9D1E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7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483F-2213-C986-3B20-F451AA7F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44035-0E4B-CA45-906F-535D633E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F91CD-50E5-1DCD-62B4-C288E11A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26DF8-1385-8962-3EE2-3E3DD0BE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50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50847-16EC-C7F8-AD9B-9E79FF6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EDFDD-FC61-A03E-5088-6D93EDA7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901DF-629B-B31A-28F0-6422140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3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C676-52F0-7A28-6DA1-65EFA0D69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0A08-9144-FC2D-F0CB-F39CA65F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4B394-0764-0E05-A9A3-265E629D0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01700-4D84-7EDC-CDC0-6D572138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02033-4A7D-C97B-2B3F-B702663A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A28E5-86C1-2D94-1551-43012DA2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69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60E2-90D7-8D4E-4552-15918CB8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B6C891-75CF-038F-64B3-CF2BD0705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BA9E1-B133-D7AD-28B7-18A2701E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D86F8-2105-D07C-AD8E-A7F07D0F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024CA-90D1-4E82-99ED-7C4D4A0E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96620-FF67-99ED-39D5-4F60C4CA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46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1432-38A6-0A58-3895-DABE2965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203E4-9CA1-6677-5833-99943D599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4F1E-2CCA-B488-F33D-F198497C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1FA0-65B3-AA76-A6E8-C63AF80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6FD7A-8501-A928-96D9-01BA2D32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5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555CE-A833-37E1-8BC8-80637E952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C189B-E200-B851-D08D-4DAF45063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E712-437A-69B9-9114-15B0773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8BDAF-E4A0-242D-DDB5-69229151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C4899-8078-1973-993C-F92E8EBF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2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A3485-EB1D-0EF1-C10B-0C4DEAEA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D35BA-4EEC-5B6C-8011-144726D02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D415E-A3B2-6BDA-DB7D-3E1AF0540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EEDA7-323B-4FF8-9632-3AFAB4C15D80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8C307-BED5-EC32-2F03-9A63230DF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D87E4-48BF-5D27-B91A-41295978C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D8B39-826F-4232-AAC3-10A7C8DF1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EBB3AD0-EFA3-F368-7527-497B51259B11}"/>
              </a:ext>
            </a:extLst>
          </p:cNvPr>
          <p:cNvSpPr txBox="1"/>
          <p:nvPr/>
        </p:nvSpPr>
        <p:spPr>
          <a:xfrm>
            <a:off x="73152" y="388848"/>
            <a:ext cx="8787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Cash Equivalents vs Total Debt — which companies are cash-rich and debt-free? Are they recession-proof?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120B7-747D-DAEF-E8CF-ECD08EC8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" y="2134271"/>
            <a:ext cx="4816257" cy="2095682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C64D4508-AD5F-666F-9C6D-AC558EC748A3}"/>
              </a:ext>
            </a:extLst>
          </p:cNvPr>
          <p:cNvSpPr/>
          <p:nvPr/>
        </p:nvSpPr>
        <p:spPr>
          <a:xfrm>
            <a:off x="5380956" y="2134270"/>
            <a:ext cx="338903" cy="199354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A2E53-2373-F50E-7549-4A8A55EBB5D7}"/>
              </a:ext>
            </a:extLst>
          </p:cNvPr>
          <p:cNvSpPr txBox="1"/>
          <p:nvPr/>
        </p:nvSpPr>
        <p:spPr>
          <a:xfrm>
            <a:off x="72533" y="4608668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Life Insurance and General Insurers dominate the list with cash equivalents far exceeding debt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Hind Aeronautics and HCL Technologies represent strong cash positions among non-finance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ITC and Infosys appear in top 20 — both known for consistent cash generation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3A8A28-6D36-1A76-A672-3A711BF900A6}"/>
              </a:ext>
            </a:extLst>
          </p:cNvPr>
          <p:cNvSpPr txBox="1"/>
          <p:nvPr/>
        </p:nvSpPr>
        <p:spPr>
          <a:xfrm>
            <a:off x="72533" y="5472559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Insurance companies naturally hold large cash reserves due to regulatory requirements — their inclusion is structural, not a sign of operational superiority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Technology and FMCG companies like HCL and ITC reflect genuine free cash flow generation — more meaningful from investor perspective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Cash-rich status provides buffer during downturns — these companies can sustain operations, pay dividends, and acquire distressed assets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53A94-5DC5-7EA6-54DB-931033E813E0}"/>
              </a:ext>
            </a:extLst>
          </p:cNvPr>
          <p:cNvSpPr txBox="1"/>
          <p:nvPr/>
        </p:nvSpPr>
        <p:spPr>
          <a:xfrm>
            <a:off x="6096000" y="5378109"/>
            <a:ext cx="57007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Separate financial sector companies from operating companies before using this list for investment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Focus on non-finance cash-rich companies — these are genuine recession-proof candidates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Combine cash richness with ROCE &gt; 15 filter to identify compounders worth holding long term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FA64A3-912A-069F-7734-17667EF9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09" y="1055246"/>
            <a:ext cx="5856667" cy="42315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DC88E5-3D5A-2816-A2F8-86AF78A0BC4C}"/>
              </a:ext>
            </a:extLst>
          </p:cNvPr>
          <p:cNvSpPr txBox="1"/>
          <p:nvPr/>
        </p:nvSpPr>
        <p:spPr>
          <a:xfrm>
            <a:off x="4570094" y="0"/>
            <a:ext cx="3522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CASH &amp; WORKING CAPITAL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D00004-8130-ECF3-C640-B682D6DD451E}"/>
              </a:ext>
            </a:extLst>
          </p:cNvPr>
          <p:cNvSpPr txBox="1"/>
          <p:nvPr/>
        </p:nvSpPr>
        <p:spPr>
          <a:xfrm>
            <a:off x="6096000" y="774627"/>
            <a:ext cx="994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CA593-6FAE-6938-E16D-F9ED8AB42228}"/>
              </a:ext>
            </a:extLst>
          </p:cNvPr>
          <p:cNvSpPr txBox="1"/>
          <p:nvPr/>
        </p:nvSpPr>
        <p:spPr>
          <a:xfrm>
            <a:off x="395248" y="1854658"/>
            <a:ext cx="994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D2029F-6148-854A-3A2B-7CB9763C07A3}"/>
              </a:ext>
            </a:extLst>
          </p:cNvPr>
          <p:cNvCxnSpPr/>
          <p:nvPr/>
        </p:nvCxnSpPr>
        <p:spPr>
          <a:xfrm flipH="1">
            <a:off x="3547872" y="182880"/>
            <a:ext cx="12344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E432A4-C5DD-AC53-A7FC-0DB1E29AC575}"/>
              </a:ext>
            </a:extLst>
          </p:cNvPr>
          <p:cNvCxnSpPr/>
          <p:nvPr/>
        </p:nvCxnSpPr>
        <p:spPr>
          <a:xfrm flipH="1">
            <a:off x="7915656" y="182880"/>
            <a:ext cx="12344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96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845A138-817D-4423-A27F-B0A749F3718D}"/>
              </a:ext>
            </a:extLst>
          </p:cNvPr>
          <p:cNvSpPr txBox="1"/>
          <p:nvPr/>
        </p:nvSpPr>
        <p:spPr>
          <a:xfrm>
            <a:off x="75208" y="83587"/>
            <a:ext cx="8833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Question:</a:t>
            </a:r>
            <a:r>
              <a:rPr lang="en-IN" sz="1400" i="1" dirty="0"/>
              <a:t> Negative Working Capital companies — in which sectors is this common? Is it good (like FMCG) or bad sign?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2FC14-F7B7-0540-F9C6-CAAA69DB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008" y="813817"/>
            <a:ext cx="5629743" cy="4171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54111B-7604-E3C1-64AD-64E5DDE9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3" y="1773788"/>
            <a:ext cx="5273947" cy="1479511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754D97A7-A51B-1511-0E0D-E55725539890}"/>
              </a:ext>
            </a:extLst>
          </p:cNvPr>
          <p:cNvSpPr/>
          <p:nvPr/>
        </p:nvSpPr>
        <p:spPr>
          <a:xfrm>
            <a:off x="5432214" y="1628332"/>
            <a:ext cx="365760" cy="177042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D59AE-34BF-3C57-985E-AA6D109A8D24}"/>
              </a:ext>
            </a:extLst>
          </p:cNvPr>
          <p:cNvSpPr txBox="1"/>
          <p:nvPr/>
        </p:nvSpPr>
        <p:spPr>
          <a:xfrm>
            <a:off x="148445" y="3804298"/>
            <a:ext cx="575857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Finance &amp; Investments dominates with 60 negative working capital companies, followed by Trading (38) and Construction (36)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FMCG and Retail sectors show moderate counts but with </a:t>
            </a:r>
            <a:r>
              <a:rPr lang="en-IN" sz="1100" i="1" dirty="0" err="1"/>
              <a:t>favorable</a:t>
            </a:r>
            <a:r>
              <a:rPr lang="en-IN" sz="1100" i="1" dirty="0"/>
              <a:t> average working capital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Construction and Miscellaneous sectors show negative working capital alongside poor average figures — structurally different from FMCG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0E4B1-857E-5502-04E7-B4948DED73F7}"/>
              </a:ext>
            </a:extLst>
          </p:cNvPr>
          <p:cNvSpPr txBox="1"/>
          <p:nvPr/>
        </p:nvSpPr>
        <p:spPr>
          <a:xfrm>
            <a:off x="148445" y="5179152"/>
            <a:ext cx="585916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Negative working capital in Finance and Insurance is structural and healthy — float-based business models collect before they pay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In Trading and FMCG, negative working capital reflects strong supplier credit and fast inventory turnover — a competitive advantage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Construction's negative working capital is dangerous — it reflects delayed client payments and cash trapped in incomplete projects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ADFBE-6F96-CA4A-236E-1A184589FEB3}"/>
              </a:ext>
            </a:extLst>
          </p:cNvPr>
          <p:cNvSpPr txBox="1"/>
          <p:nvPr/>
        </p:nvSpPr>
        <p:spPr>
          <a:xfrm>
            <a:off x="6096000" y="4984917"/>
            <a:ext cx="570075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  <a:endParaRPr lang="en-IN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Always interpret negative working capital in sector context — same number means opposite things in FMCG vs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For Construction companies with negative working capital, cross-verify with debt levels before any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i="1" dirty="0"/>
              <a:t>Build a sector-wise working capital benchmark — flag companies deviating significantly from their own sector median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F9B1B5-784C-311E-68CD-A4A214F59BA8}"/>
              </a:ext>
            </a:extLst>
          </p:cNvPr>
          <p:cNvSpPr txBox="1"/>
          <p:nvPr/>
        </p:nvSpPr>
        <p:spPr>
          <a:xfrm>
            <a:off x="6167008" y="536818"/>
            <a:ext cx="994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257FA-D5AC-F20A-2D7D-DD18B3BEFC88}"/>
              </a:ext>
            </a:extLst>
          </p:cNvPr>
          <p:cNvSpPr txBox="1"/>
          <p:nvPr/>
        </p:nvSpPr>
        <p:spPr>
          <a:xfrm>
            <a:off x="75208" y="1496789"/>
            <a:ext cx="994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71554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2026-06-06T05:56:05Z</dcterms:created>
  <dcterms:modified xsi:type="dcterms:W3CDTF">2026-06-06T05:56:56Z</dcterms:modified>
</cp:coreProperties>
</file>