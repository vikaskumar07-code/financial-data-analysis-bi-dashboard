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B28D6-FCB4-4DB9-9413-6BA78FA4A4B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7EEBA-EB33-4B63-8EB4-2EE02B336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11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7EEBA-EB33-4B63-8EB4-2EE02B336B7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53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6E4B-9BFA-0B8C-FA7F-3DA720E8E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B4E4C-E6F1-445E-3722-B2113D728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87275-B6BC-2A32-5E9B-6BB51992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E5ECA-0B1A-2349-91B6-4989FD52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AA7FF-07D0-BB81-76C5-BE677AAE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84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6B32-F399-7ED7-41CC-1C2C2375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88332-A999-F44C-2089-5ADE057B5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AE59B-C0C7-D64A-97F2-6978AF43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5D55B-D711-26EE-E3A0-F227D155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62BB3-E012-2F6C-6DD6-E3552EDB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06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A846-7B04-D04C-AA61-7081589E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E4CFA-7F6A-F148-9315-431E4EB1C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7834-5169-179D-3E1E-25326F8A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21F0-204E-3D93-19E1-D37DE1E2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E3534-08A9-D691-06A9-5D53EEA9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4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7B24-472F-61F6-96FD-9D39C71E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EFDC4-D6B8-6809-F7DE-54CEC5231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FE98D-E35D-5B55-02FD-329255245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D2942-FEFF-8DA2-7F7E-B0998996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AB133-1F4A-43C1-4C62-4D75CF8A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1794B-1BE6-962E-6548-433ACAE7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41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AC76-A14B-6040-2C96-32ACD4D6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72C95-847D-3EB1-E6E4-81A4B2363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C6746-2487-A836-25CF-A84A0E109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2F6F5-8B6D-A015-4A23-B2D62DDED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3A2BF-B25E-B933-5F7C-6C10E53D2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6A5A36-D1CA-6192-373D-656FB703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6112B-EA5D-DF30-5AAB-D29933A6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C751D-2B51-B80F-70D6-963EBDE8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68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7868-96A9-78C6-7A8B-CAE2CB09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96565-02F4-7BB8-F774-3272C774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1A50B-8C1E-8101-6A58-ECE7EBFB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43029-7995-3E0B-B1C2-3DCE1248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5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68868-AF00-53DA-628C-D62A4495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62EE1-A612-97FB-C278-699A4EC9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965A1-901F-5DF5-A91C-E025A3A7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7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0F64-FC34-0169-360E-670030321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D43E5-BAF9-1ACC-1B43-DF7BD4FEA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77B70-4843-5F0C-2FE7-2F795D6C0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A503A-D5E5-E65E-C979-84417AD7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01DCE-CB29-F373-F51A-E150CA87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A1269-2248-BF42-11B9-947B2F704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15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F956-26D4-E34F-A6D5-361416BE1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D85C1-2C25-F893-522F-F10B8204E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AE1B3-52C9-1BED-C98A-441983DC7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C3D3B-740E-D05D-E1C6-6B8F43E7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A41A-5A4D-E1F6-CF70-663EB90A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4CDCC-5B30-C740-FCD9-6F55642C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43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9A7F-EC5A-D9D2-FDC7-0DBE8E85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90D25-52BD-8606-1B17-ECE32C773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2B47C-1D87-85AC-5F42-E6019094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E4D7C-E3AD-F6CE-9982-3BD5745D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9C4D5-4C5C-ED62-6808-3BAEAC51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2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80B6C-1159-FE11-C51F-AE39E179C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49428-B133-96FD-3575-46C7E6F11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3CC55-B69A-7693-D4DF-779641B4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139FA-E222-3D5B-0487-86E51D243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07686-6EAA-C268-D75B-2CAD408D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69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6119-4C29-1244-BB8E-06ADC932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2D9F-38E9-2695-C9BB-821F2D81B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5CFFF-73A9-7D8F-9F75-94887ACC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C8FB8-4260-44CB-B829-CD12977E387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7225D-16A1-12C1-65C0-B28115932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0D2B4-DE10-BB07-78CE-438FAE7B3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36688-3B02-4478-8016-9314535A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1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ED4D-94B1-E30D-C1BA-62F30DD1A658}"/>
              </a:ext>
            </a:extLst>
          </p:cNvPr>
          <p:cNvSpPr txBox="1"/>
          <p:nvPr/>
        </p:nvSpPr>
        <p:spPr>
          <a:xfrm>
            <a:off x="3048762" y="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 &amp; FINANCIAL HEALTH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159F5-9643-ABA0-B5C0-854EB570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2552"/>
            <a:ext cx="4076965" cy="2030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B27683-6659-DE27-ADA8-5346852AC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053268"/>
            <a:ext cx="4065704" cy="203004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2C7766-3A84-1E76-572B-33C94A74FE8A}"/>
              </a:ext>
            </a:extLst>
          </p:cNvPr>
          <p:cNvSpPr txBox="1"/>
          <p:nvPr/>
        </p:nvSpPr>
        <p:spPr>
          <a:xfrm>
            <a:off x="304038" y="430292"/>
            <a:ext cx="72031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12</a:t>
            </a:r>
            <a:r>
              <a:rPr lang="en-IN" sz="1400" i="1" dirty="0"/>
              <a:t>: Identify companies with Debt-to-Profit ratio above 5x — how concentrated is the risk and which sectors are most exposed?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D754B6-C14A-145D-DCA3-0FEFAECDF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82" y="2171964"/>
            <a:ext cx="5075360" cy="1501270"/>
          </a:xfrm>
          <a:prstGeom prst="rect">
            <a:avLst/>
          </a:prstGeom>
        </p:spPr>
      </p:pic>
      <p:sp>
        <p:nvSpPr>
          <p:cNvPr id="30" name="Right Brace 29">
            <a:extLst>
              <a:ext uri="{FF2B5EF4-FFF2-40B4-BE49-F238E27FC236}">
                <a16:creationId xmlns:a16="http://schemas.microsoft.com/office/drawing/2014/main" id="{AF5C1A87-16DD-D9E5-B0ED-24E95ED0E3C7}"/>
              </a:ext>
            </a:extLst>
          </p:cNvPr>
          <p:cNvSpPr/>
          <p:nvPr/>
        </p:nvSpPr>
        <p:spPr>
          <a:xfrm>
            <a:off x="5980176" y="2020824"/>
            <a:ext cx="345108" cy="203004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826166-8829-C273-0E87-36E0D003658A}"/>
              </a:ext>
            </a:extLst>
          </p:cNvPr>
          <p:cNvSpPr txBox="1"/>
          <p:nvPr/>
        </p:nvSpPr>
        <p:spPr>
          <a:xfrm>
            <a:off x="148590" y="4581779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Finance &amp; Investments has the highest concentration of distressed companies with elevated debt burden.</a:t>
            </a:r>
            <a:br>
              <a:rPr lang="en-IN" sz="1100" i="1" dirty="0"/>
            </a:br>
            <a:r>
              <a:rPr lang="en-IN" sz="1100" i="1" dirty="0"/>
              <a:t>• Trading and Construction also show meaningful exposure to high debt levels.</a:t>
            </a:r>
            <a:br>
              <a:rPr lang="en-IN" sz="1100" i="1" dirty="0"/>
            </a:br>
            <a:r>
              <a:rPr lang="en-IN" sz="1100" i="1" dirty="0"/>
              <a:t>• Debt stress appears concentrated in a few sectors rather than evenly distributed.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EEF8D-041E-2615-C4F9-8E0B83E206B1}"/>
              </a:ext>
            </a:extLst>
          </p:cNvPr>
          <p:cNvSpPr txBox="1"/>
          <p:nvPr/>
        </p:nvSpPr>
        <p:spPr>
          <a:xfrm>
            <a:off x="148590" y="5719227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High Debt-to-Profit indicates lower financial flexibility and greater earnings pressure.</a:t>
            </a:r>
            <a:br>
              <a:rPr lang="en-IN" sz="1100" i="1" dirty="0"/>
            </a:br>
            <a:r>
              <a:rPr lang="en-IN" sz="1100" i="1" dirty="0"/>
              <a:t>• Sector concentration suggests dependence on leverage or weaker cash generation.</a:t>
            </a:r>
            <a:br>
              <a:rPr lang="en-IN" sz="1100" i="1" dirty="0"/>
            </a:br>
            <a:r>
              <a:rPr lang="en-IN" sz="1100" i="1" dirty="0"/>
              <a:t>• Persistent high leverage may increase refinancing and solvency risk.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CB30D3-1E4B-0289-855D-B26F9D4A7E23}"/>
              </a:ext>
            </a:extLst>
          </p:cNvPr>
          <p:cNvSpPr txBox="1"/>
          <p:nvPr/>
        </p:nvSpPr>
        <p:spPr>
          <a:xfrm>
            <a:off x="7598122" y="5135777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Prioritize companies with improving profitability and debt reduction trends.</a:t>
            </a:r>
            <a:br>
              <a:rPr lang="en-IN" sz="1100" i="1" dirty="0"/>
            </a:br>
            <a:r>
              <a:rPr lang="en-IN" sz="1100" i="1" dirty="0"/>
              <a:t>• Monitor cash flow coverage alongside debt metrics.</a:t>
            </a:r>
            <a:br>
              <a:rPr lang="en-IN" sz="1100" i="1" dirty="0"/>
            </a:br>
            <a:r>
              <a:rPr lang="en-IN" sz="1100" i="1" dirty="0"/>
              <a:t>• Review sector-level leverage sustainability before investment decisions.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25FBE0-F992-58FA-E82C-074D272F5A69}"/>
              </a:ext>
            </a:extLst>
          </p:cNvPr>
          <p:cNvSpPr txBox="1"/>
          <p:nvPr/>
        </p:nvSpPr>
        <p:spPr>
          <a:xfrm>
            <a:off x="7598122" y="630942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C1C6AE-E854-0885-F267-93C7466ECCC5}"/>
              </a:ext>
            </a:extLst>
          </p:cNvPr>
          <p:cNvSpPr txBox="1"/>
          <p:nvPr/>
        </p:nvSpPr>
        <p:spPr>
          <a:xfrm>
            <a:off x="434075" y="1934100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10A2B8B-FDD6-A88B-9652-C2084C9DD05E}"/>
              </a:ext>
            </a:extLst>
          </p:cNvPr>
          <p:cNvCxnSpPr>
            <a:endCxn id="5" idx="1"/>
          </p:cNvCxnSpPr>
          <p:nvPr/>
        </p:nvCxnSpPr>
        <p:spPr>
          <a:xfrm flipH="1">
            <a:off x="3048762" y="182880"/>
            <a:ext cx="1411478" cy="17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D6B0A1-A1A2-56B9-DA09-0F1AE0030072}"/>
              </a:ext>
            </a:extLst>
          </p:cNvPr>
          <p:cNvCxnSpPr/>
          <p:nvPr/>
        </p:nvCxnSpPr>
        <p:spPr>
          <a:xfrm flipH="1">
            <a:off x="7731760" y="204986"/>
            <a:ext cx="1411478" cy="17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64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BF65B5-7073-BD4F-83C6-99F4F60FBD63}"/>
              </a:ext>
            </a:extLst>
          </p:cNvPr>
          <p:cNvSpPr txBox="1"/>
          <p:nvPr/>
        </p:nvSpPr>
        <p:spPr>
          <a:xfrm>
            <a:off x="267244" y="96734"/>
            <a:ext cx="7154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13</a:t>
            </a:r>
            <a:r>
              <a:rPr lang="en-IN" sz="1400" i="1" dirty="0"/>
              <a:t>: Identify companies with Interest Coverage Ratio below 1.5x — where repayment risk is highest?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6F07A4-084B-2DC5-9581-811D9977E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560" y="855749"/>
            <a:ext cx="3679178" cy="20745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BAF492-5CDC-239F-4C71-CBB9C0D4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60" y="3080276"/>
            <a:ext cx="3679179" cy="2064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8DD02C-F510-0662-68DE-5F52EC151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61" y="2215331"/>
            <a:ext cx="4930567" cy="172989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5503342B-58ED-44E3-3A3E-EAA6427BBB8C}"/>
              </a:ext>
            </a:extLst>
          </p:cNvPr>
          <p:cNvSpPr/>
          <p:nvPr/>
        </p:nvSpPr>
        <p:spPr>
          <a:xfrm>
            <a:off x="5585203" y="2047824"/>
            <a:ext cx="351034" cy="206490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0725D-055C-29BC-4676-7BD4783697B0}"/>
              </a:ext>
            </a:extLst>
          </p:cNvPr>
          <p:cNvSpPr txBox="1"/>
          <p:nvPr/>
        </p:nvSpPr>
        <p:spPr>
          <a:xfrm>
            <a:off x="267244" y="461764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Finance &amp; Investments reports the largest number of companies with weak interest coverage.</a:t>
            </a:r>
            <a:br>
              <a:rPr lang="en-IN" sz="1100" i="1" dirty="0"/>
            </a:br>
            <a:r>
              <a:rPr lang="en-IN" sz="1100" i="1" dirty="0"/>
              <a:t>• Construction and Trading also appear among higher-risk sectors.</a:t>
            </a:r>
            <a:br>
              <a:rPr lang="en-IN" sz="1100" i="1" dirty="0"/>
            </a:br>
            <a:r>
              <a:rPr lang="en-IN" sz="1100" i="1" dirty="0"/>
              <a:t>• Several sectors show average coverage close to or below 1x.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5696D1-9221-1F5B-4B17-8ADDBBBD4ED3}"/>
              </a:ext>
            </a:extLst>
          </p:cNvPr>
          <p:cNvSpPr txBox="1"/>
          <p:nvPr/>
        </p:nvSpPr>
        <p:spPr>
          <a:xfrm>
            <a:off x="267244" y="557569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Low interest coverage indicates earnings are insufficient to comfortably service debt.</a:t>
            </a:r>
            <a:br>
              <a:rPr lang="en-IN" sz="1100" i="1" dirty="0"/>
            </a:br>
            <a:r>
              <a:rPr lang="en-IN" sz="1100" i="1" dirty="0"/>
              <a:t>• Sustained pressure may lead to refinancing dependence or profitability erosion.</a:t>
            </a:r>
            <a:br>
              <a:rPr lang="en-IN" sz="1100" i="1" dirty="0"/>
            </a:br>
            <a:r>
              <a:rPr lang="en-IN" sz="1100" i="1" dirty="0"/>
              <a:t>• This metric signals elevated financial stress rather than immediate default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1074F-942F-2346-889A-349C76F0DEFE}"/>
              </a:ext>
            </a:extLst>
          </p:cNvPr>
          <p:cNvSpPr txBox="1"/>
          <p:nvPr/>
        </p:nvSpPr>
        <p:spPr>
          <a:xfrm>
            <a:off x="7946378" y="5190977"/>
            <a:ext cx="4155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Focus on EBITDA recovery and interest servicing trends.</a:t>
            </a:r>
            <a:br>
              <a:rPr lang="en-IN" sz="1100" i="1" dirty="0"/>
            </a:br>
            <a:r>
              <a:rPr lang="en-IN" sz="1100" i="1" dirty="0"/>
              <a:t>• Avoid relying only on earnings growth without debt improvement.</a:t>
            </a:r>
            <a:br>
              <a:rPr lang="en-IN" sz="1100" i="1" dirty="0"/>
            </a:br>
            <a:r>
              <a:rPr lang="en-IN" sz="1100" i="1" dirty="0"/>
              <a:t>• Track coverage movement across multiple periods.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32495E-B4BD-09B0-9C70-C5085326635F}"/>
              </a:ext>
            </a:extLst>
          </p:cNvPr>
          <p:cNvSpPr txBox="1"/>
          <p:nvPr/>
        </p:nvSpPr>
        <p:spPr>
          <a:xfrm>
            <a:off x="434075" y="1934100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0F1749-4E00-DBA5-882D-CF4C3B8BE6D2}"/>
              </a:ext>
            </a:extLst>
          </p:cNvPr>
          <p:cNvSpPr txBox="1"/>
          <p:nvPr/>
        </p:nvSpPr>
        <p:spPr>
          <a:xfrm>
            <a:off x="7975600" y="620583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9880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ABAD959-225D-222D-229B-CEA78504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924" y="1214885"/>
            <a:ext cx="2082650" cy="9329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8DCC85-8B83-74BB-AEC1-C9B2F7430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602" y="1011135"/>
            <a:ext cx="4065558" cy="44065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8712FD-6184-A33C-66BD-A0C1E783C945}"/>
              </a:ext>
            </a:extLst>
          </p:cNvPr>
          <p:cNvSpPr txBox="1"/>
          <p:nvPr/>
        </p:nvSpPr>
        <p:spPr>
          <a:xfrm>
            <a:off x="294640" y="172323"/>
            <a:ext cx="7810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14</a:t>
            </a:r>
            <a:r>
              <a:rPr lang="en-IN" sz="1400" i="1" dirty="0"/>
              <a:t>: What is the Altman Z-Score distribution and how many companies fall into the Distress Zone (Z &lt; 1.81)?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306EF-4EA9-4A0F-5A96-A625A7BC9F21}"/>
              </a:ext>
            </a:extLst>
          </p:cNvPr>
          <p:cNvSpPr txBox="1"/>
          <p:nvPr/>
        </p:nvSpPr>
        <p:spPr>
          <a:xfrm>
            <a:off x="6571030" y="3357519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C0B768-4346-7A84-9941-75E6473D9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23" y="773093"/>
            <a:ext cx="3911822" cy="1548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94ADC5-6319-5CB2-7CB9-F8BB1E49D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965" y="2720273"/>
            <a:ext cx="2263336" cy="1539373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00DEDE00-F221-25D3-AFB5-C2D03F185EA3}"/>
              </a:ext>
            </a:extLst>
          </p:cNvPr>
          <p:cNvSpPr/>
          <p:nvPr/>
        </p:nvSpPr>
        <p:spPr>
          <a:xfrm>
            <a:off x="4300405" y="907132"/>
            <a:ext cx="263233" cy="154843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30B63C1-2E8A-88B2-773B-357DB79F42A8}"/>
              </a:ext>
            </a:extLst>
          </p:cNvPr>
          <p:cNvSpPr/>
          <p:nvPr/>
        </p:nvSpPr>
        <p:spPr>
          <a:xfrm>
            <a:off x="6278880" y="2659313"/>
            <a:ext cx="284480" cy="16734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DB39B-CCA6-E97C-E038-39A9127A0FBB}"/>
              </a:ext>
            </a:extLst>
          </p:cNvPr>
          <p:cNvSpPr txBox="1"/>
          <p:nvPr/>
        </p:nvSpPr>
        <p:spPr>
          <a:xfrm>
            <a:off x="254000" y="46482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Most companies remain in the Safe Zone, while a smaller but meaningful group falls into Distress Zone.</a:t>
            </a:r>
            <a:br>
              <a:rPr lang="en-IN" sz="1100" i="1" dirty="0"/>
            </a:br>
            <a:r>
              <a:rPr lang="en-IN" sz="1100" i="1" dirty="0"/>
              <a:t>• Distressed companies are spread across multiple industries rather than one sector.</a:t>
            </a:r>
            <a:br>
              <a:rPr lang="en-IN" sz="1100" i="1" dirty="0"/>
            </a:br>
            <a:r>
              <a:rPr lang="en-IN" sz="1100" i="1" dirty="0"/>
              <a:t>• The distribution indicates overall stability with selective pockets of financial risk.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EF281-C958-16BE-BA7B-3267970B91C3}"/>
              </a:ext>
            </a:extLst>
          </p:cNvPr>
          <p:cNvSpPr txBox="1"/>
          <p:nvPr/>
        </p:nvSpPr>
        <p:spPr>
          <a:xfrm>
            <a:off x="254000" y="5656390"/>
            <a:ext cx="6309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Companies in Distress Zone may face higher bankruptcy or restructuring risk.</a:t>
            </a:r>
            <a:br>
              <a:rPr lang="en-IN" sz="1100" i="1" dirty="0"/>
            </a:br>
            <a:r>
              <a:rPr lang="en-IN" sz="1100" i="1" dirty="0"/>
              <a:t>• Broad sector representation suggests company-level financial discipline matters more than industry effect.</a:t>
            </a:r>
            <a:br>
              <a:rPr lang="en-IN" sz="1100" i="1" dirty="0"/>
            </a:br>
            <a:r>
              <a:rPr lang="en-IN" sz="1100" i="1" dirty="0"/>
              <a:t>• Lower Z-scores often reflect combined pressure from leverage, liquidity, and profitability.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7A92B-CCA2-CCF1-2BF6-D9F72FFEF2D5}"/>
              </a:ext>
            </a:extLst>
          </p:cNvPr>
          <p:cNvSpPr txBox="1"/>
          <p:nvPr/>
        </p:nvSpPr>
        <p:spPr>
          <a:xfrm>
            <a:off x="7548880" y="5462144"/>
            <a:ext cx="40655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Prioritize monitoring companies near or inside the Distress Zone.</a:t>
            </a:r>
            <a:br>
              <a:rPr lang="en-IN" sz="1100" i="1" dirty="0"/>
            </a:br>
            <a:r>
              <a:rPr lang="en-IN" sz="1100" i="1" dirty="0"/>
              <a:t>• Combine Z-score with cash flow and debt analysis.</a:t>
            </a:r>
            <a:br>
              <a:rPr lang="en-IN" sz="1100" i="1" dirty="0"/>
            </a:br>
            <a:r>
              <a:rPr lang="en-IN" sz="1100" i="1" dirty="0"/>
              <a:t>• Use trend analysis instead of one-time screening.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A0A619-88C9-A561-8ADC-CB143C0F207D}"/>
              </a:ext>
            </a:extLst>
          </p:cNvPr>
          <p:cNvSpPr txBox="1"/>
          <p:nvPr/>
        </p:nvSpPr>
        <p:spPr>
          <a:xfrm>
            <a:off x="4516259" y="1542847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ED59A6-141E-3660-1BCB-26F2B07453A4}"/>
              </a:ext>
            </a:extLst>
          </p:cNvPr>
          <p:cNvSpPr txBox="1"/>
          <p:nvPr/>
        </p:nvSpPr>
        <p:spPr>
          <a:xfrm>
            <a:off x="294640" y="561024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74C9FF-93BC-81FE-83C0-E953839DB663}"/>
              </a:ext>
            </a:extLst>
          </p:cNvPr>
          <p:cNvSpPr txBox="1"/>
          <p:nvPr/>
        </p:nvSpPr>
        <p:spPr>
          <a:xfrm>
            <a:off x="3641987" y="2453794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02552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D76FB3E-A7A7-65AB-6657-E5CF2D95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967" y="1018110"/>
            <a:ext cx="6099475" cy="22360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6CCB39-71EF-79B3-9CB0-62E25C6B7974}"/>
              </a:ext>
            </a:extLst>
          </p:cNvPr>
          <p:cNvSpPr txBox="1"/>
          <p:nvPr/>
        </p:nvSpPr>
        <p:spPr>
          <a:xfrm>
            <a:off x="96788" y="87501"/>
            <a:ext cx="76654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15</a:t>
            </a:r>
            <a:r>
              <a:rPr lang="en-IN" sz="1400" i="1" dirty="0"/>
              <a:t>: Identify companies with Current Ratio below 1 and high debt — which names show liquidity stress?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A44E7-1931-53C2-0369-2706E14B0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41" y="874924"/>
            <a:ext cx="2286198" cy="2446232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4746E2C1-2F88-B421-8B3B-17DB2AC4D9AB}"/>
              </a:ext>
            </a:extLst>
          </p:cNvPr>
          <p:cNvSpPr/>
          <p:nvPr/>
        </p:nvSpPr>
        <p:spPr>
          <a:xfrm>
            <a:off x="3745926" y="1018110"/>
            <a:ext cx="367176" cy="215986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1173A-DF2F-8AAF-FCB7-5B18FD40DDDC}"/>
              </a:ext>
            </a:extLst>
          </p:cNvPr>
          <p:cNvSpPr txBox="1"/>
          <p:nvPr/>
        </p:nvSpPr>
        <p:spPr>
          <a:xfrm>
            <a:off x="96788" y="604323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964BB-CBE2-D49D-5155-62AF7C53EBE4}"/>
              </a:ext>
            </a:extLst>
          </p:cNvPr>
          <p:cNvSpPr txBox="1"/>
          <p:nvPr/>
        </p:nvSpPr>
        <p:spPr>
          <a:xfrm>
            <a:off x="5770626" y="741111"/>
            <a:ext cx="65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E682B-38CD-3A11-6255-E3A0E45358D2}"/>
              </a:ext>
            </a:extLst>
          </p:cNvPr>
          <p:cNvSpPr txBox="1"/>
          <p:nvPr/>
        </p:nvSpPr>
        <p:spPr>
          <a:xfrm>
            <a:off x="325374" y="418117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Selected companies show both weak short-term liquidity and elevated debt levels.</a:t>
            </a:r>
            <a:br>
              <a:rPr lang="en-IN" sz="1100" i="1" dirty="0"/>
            </a:br>
            <a:r>
              <a:rPr lang="en-IN" sz="1100" i="1" dirty="0"/>
              <a:t>• Construction, Paper, Hotels, and Finance-related sectors appear in the risk list.</a:t>
            </a:r>
            <a:br>
              <a:rPr lang="en-IN" sz="1100" i="1" dirty="0"/>
            </a:br>
            <a:r>
              <a:rPr lang="en-IN" sz="1100" i="1" dirty="0"/>
              <a:t>• Some firms display extremely low current ratios, indicating working capital pressure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01FCB-9A31-347F-F239-3F4416C16AF7}"/>
              </a:ext>
            </a:extLst>
          </p:cNvPr>
          <p:cNvSpPr txBox="1"/>
          <p:nvPr/>
        </p:nvSpPr>
        <p:spPr>
          <a:xfrm>
            <a:off x="325374" y="521363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Low liquidity combined with leverage increases refinancing and operational risk.</a:t>
            </a:r>
            <a:br>
              <a:rPr lang="en-IN" sz="1100" i="1" dirty="0"/>
            </a:br>
            <a:r>
              <a:rPr lang="en-IN" sz="1100" i="1" dirty="0"/>
              <a:t>• Companies may depend heavily on external funding to maintain operations.</a:t>
            </a:r>
            <a:br>
              <a:rPr lang="en-IN" sz="1100" i="1" dirty="0"/>
            </a:br>
            <a:r>
              <a:rPr lang="en-IN" sz="1100" i="1" dirty="0"/>
              <a:t>• This profile often signals weaker financial resilience during downturns.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DE6B36-66A8-2F11-9B50-361046FCDF0A}"/>
              </a:ext>
            </a:extLst>
          </p:cNvPr>
          <p:cNvSpPr txBox="1"/>
          <p:nvPr/>
        </p:nvSpPr>
        <p:spPr>
          <a:xfrm>
            <a:off x="5791200" y="3294854"/>
            <a:ext cx="4145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Review short-term obligations and cash conversion cycles.</a:t>
            </a:r>
            <a:br>
              <a:rPr lang="en-IN" sz="1100" i="1" dirty="0"/>
            </a:br>
            <a:r>
              <a:rPr lang="en-IN" sz="1100" i="1" dirty="0"/>
              <a:t>• Monitor debt restructuring and liquidity improvement initiatives.</a:t>
            </a:r>
            <a:br>
              <a:rPr lang="en-IN" sz="1100" i="1" dirty="0"/>
            </a:br>
            <a:r>
              <a:rPr lang="en-IN" sz="1100" i="1" dirty="0"/>
              <a:t>• Treat these companies as higher-risk until working capital stabilizes.</a:t>
            </a:r>
          </a:p>
        </p:txBody>
      </p:sp>
    </p:spTree>
    <p:extLst>
      <p:ext uri="{BB962C8B-B14F-4D97-AF65-F5344CB8AC3E}">
        <p14:creationId xmlns:p14="http://schemas.microsoft.com/office/powerpoint/2010/main" val="85332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Widescreen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2026-06-06T05:01:21Z</dcterms:created>
  <dcterms:modified xsi:type="dcterms:W3CDTF">2026-06-06T05:02:01Z</dcterms:modified>
</cp:coreProperties>
</file>