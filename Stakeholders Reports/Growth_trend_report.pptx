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E715B-98AD-735F-0E89-866E3117A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33B4C3-3504-E4C0-19AB-789BF5D77B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551CD-A163-343F-93C0-3BADFFDC8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24CFC-2679-30B7-B65C-B85C1710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0F1AD-69B0-5AD8-6FF3-04C87133A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4775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2776-2D0C-E97D-D911-BC41426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7463E-219D-C287-9BC0-9538083A2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9F072A-A72B-6F98-4E8F-DE4FF80B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89546-AF4B-09A1-04DC-3685C1FD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4CF85F-1CBC-8AC8-6340-FD53FC6EC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065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D6515-272A-9F70-66DC-F582200CA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CFCC2-CE45-6299-17E8-36F13452A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6654C-1AAE-4F9D-46F7-F28962DB2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DCBB3-FA0C-BD55-FDC5-008C1FC3F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9E6A2C-2A66-E99A-08B1-2AF7F252B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8994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8AA46-908E-C34B-1716-43599DFD8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5C08B-90D9-97A8-ACE7-F29189E115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B7B625-862A-1EDB-B0C7-50940F02A0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4865C-F054-8959-3DBB-E86369DA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70504-0B86-46C3-4980-E49416DC2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3D18A0-568D-8718-09B6-72C059457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01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B85FB-344F-B00B-E86F-82354ED3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7CB85-3EF3-1991-3930-2C0D02036C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01DD75-4D0B-69C4-A838-6D8888F09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E5176C-B241-B195-D9AD-FFFAF1BC7A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FCEB3-64A2-82D4-3EDD-5AB1551EC6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2AB39A0-AD84-45DE-BBB3-258E7B63B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52BF6D-143C-E4BA-61F3-B8EC63BB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9777A-9987-3F90-7CC9-74A8780B9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224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F9CC3-9D94-F8C1-9652-5AF9350F3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458532-BF5D-0A19-DD55-2AABA90DF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8A5D7E-628D-F595-2B96-35F9EB77D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73700B-8F43-B89B-DDCD-AC759D5AE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917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90B37-D356-920F-9F1C-269A2EE44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C5734C-DF58-9598-F233-6AB918D9E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F239F8-8897-1DE3-99D4-A433FB6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24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E5CA5-E563-E23F-D960-C7314EBDA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ADF5-904A-40D4-D4EC-3B7D2C80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624FDA-FCF6-423F-567B-A8C8FA6A6E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F834A-D658-6CCC-DE61-4C14E0F68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9B9DE-4AE3-67F4-0DE5-0A52228C5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F88F78-19ED-5469-9BA4-3788672A8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043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C0CD-2C43-D703-BF81-8CD6E630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806F0F-9D34-B796-6B79-6AB20BEC7A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611BD-C29A-8E82-F496-A83BA11815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EF602-8202-51A9-F339-436DD07E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21A59-43D0-9209-5381-481F8D6A5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1FCE2-E7A5-6C9E-62AD-254CB6BF8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294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556F5-8343-9DA0-EED8-27190A45D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C4EFB3-64F3-5123-44A4-30E3A58558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0F48B-949B-6310-9AB9-89D1B069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199C1-57A1-FB27-D930-EC1C39BD4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619CA5-1E3E-7441-F74A-7B422242A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600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8131B5-BB19-555B-79D0-4532DC45AE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F5A3B-0605-7CB0-EA5B-2671A2899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A3CE3-7325-86C5-C363-4BA702FA3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207A4C-FEFC-2A67-AFFB-D31CC68FE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916D07-7576-6D28-9491-8D4211426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712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FD8EC-0D45-8C2A-93EC-5646FA5AF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AEA84-8465-7CFE-A92A-0D6A6B302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DF3C-32F5-AAD3-81E3-D30B2B3DF0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F747B9-B32C-4600-8C81-4C194726D0C2}" type="datetimeFigureOut">
              <a:rPr lang="en-IN" smtClean="0"/>
              <a:t>05-06-2026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DB2BEF-C412-C935-5CB4-83D1D88B9A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D046B-998B-5444-3FD6-E8C01BDBC6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5E31D-8480-4909-8F0F-1A5FE1C000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1494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06BF9C0-1D5A-D5F4-71F4-C2B6CB675963}"/>
              </a:ext>
            </a:extLst>
          </p:cNvPr>
          <p:cNvSpPr txBox="1"/>
          <p:nvPr/>
        </p:nvSpPr>
        <p:spPr>
          <a:xfrm flipH="1">
            <a:off x="4732020" y="68981"/>
            <a:ext cx="2331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GROWTH TRENDS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B18F57B-97E6-98E7-D107-295E30A5B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382030"/>
            <a:ext cx="6067198" cy="20469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6E593D8-882B-C741-5CCD-4C5B6CC78579}"/>
              </a:ext>
            </a:extLst>
          </p:cNvPr>
          <p:cNvSpPr txBox="1"/>
          <p:nvPr/>
        </p:nvSpPr>
        <p:spPr>
          <a:xfrm>
            <a:off x="192024" y="506432"/>
            <a:ext cx="94548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4</a:t>
            </a:r>
            <a:r>
              <a:rPr lang="en-IN" sz="1400" i="1" dirty="0"/>
              <a:t>: Compare sales growth across 3Y vs 5Y vs 10Y — which companies are showing growth deceleration (3Y &gt; 5Y &gt; 10Y) and which are accelerating?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990185A-A6C5-F472-0E96-8036C03FD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22" y="1369105"/>
            <a:ext cx="3901778" cy="207282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B930935E-97D4-4436-C181-9FF7E323A1A5}"/>
              </a:ext>
            </a:extLst>
          </p:cNvPr>
          <p:cNvSpPr txBox="1"/>
          <p:nvPr/>
        </p:nvSpPr>
        <p:spPr>
          <a:xfrm>
            <a:off x="226922" y="4117231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The identified companies show a clear slowdown pattern where recent 3-year sales growth remains weaker than longer-term historical growth.</a:t>
            </a:r>
            <a:br>
              <a:rPr lang="en-IN" sz="1100" i="1" dirty="0"/>
            </a:br>
            <a:r>
              <a:rPr lang="en-IN" sz="1100" i="1" dirty="0"/>
              <a:t>• Trading and Finance &amp; Investments appear multiple times, indicating growth moderation across these sectors.</a:t>
            </a:r>
            <a:br>
              <a:rPr lang="en-IN" sz="1100" i="1" dirty="0"/>
            </a:br>
            <a:r>
              <a:rPr lang="en-IN" sz="1100" i="1" dirty="0"/>
              <a:t>• A few companies still maintain positive long-term growth despite declining short-term momentum.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8B92306-DD6C-EBDA-FC7E-A94413B624A1}"/>
              </a:ext>
            </a:extLst>
          </p:cNvPr>
          <p:cNvSpPr txBox="1"/>
          <p:nvPr/>
        </p:nvSpPr>
        <p:spPr>
          <a:xfrm>
            <a:off x="192024" y="5329360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Growth deceleration may indicate market maturity, weaker demand, or normalization after expansion periods.</a:t>
            </a:r>
            <a:br>
              <a:rPr lang="en-IN" sz="1100" i="1" dirty="0"/>
            </a:br>
            <a:r>
              <a:rPr lang="en-IN" sz="1100" i="1" dirty="0"/>
              <a:t>• Sector concentration suggests external industry conditions may be affecting recent performance more than company-specific factors.</a:t>
            </a:r>
            <a:br>
              <a:rPr lang="en-IN" sz="1100" i="1" dirty="0"/>
            </a:br>
            <a:r>
              <a:rPr lang="en-IN" sz="1100" i="1" dirty="0"/>
              <a:t>• Sustained slowdown could pressure future earnings expectations.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6A248D-7830-09D5-E59C-4A65CEB64627}"/>
              </a:ext>
            </a:extLst>
          </p:cNvPr>
          <p:cNvSpPr txBox="1"/>
          <p:nvPr/>
        </p:nvSpPr>
        <p:spPr>
          <a:xfrm>
            <a:off x="5757672" y="3429000"/>
            <a:ext cx="50726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Separate temporary slowdown from structural decline using quarterly trend analysis.</a:t>
            </a:r>
            <a:br>
              <a:rPr lang="en-IN" sz="1100" i="1" dirty="0"/>
            </a:br>
            <a:r>
              <a:rPr lang="en-IN" sz="1100" i="1" dirty="0"/>
              <a:t>• Focus on companies maintaining profitability despite slower growth.</a:t>
            </a:r>
            <a:br>
              <a:rPr lang="en-IN" sz="1100" i="1" dirty="0"/>
            </a:br>
            <a:r>
              <a:rPr lang="en-IN" sz="1100" i="1" dirty="0"/>
              <a:t>• Monitor whether growth stabilizes before making expansion decisions.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3F33322-F3DC-6902-FBF5-2CC420804E06}"/>
              </a:ext>
            </a:extLst>
          </p:cNvPr>
          <p:cNvCxnSpPr/>
          <p:nvPr/>
        </p:nvCxnSpPr>
        <p:spPr>
          <a:xfrm flipH="1">
            <a:off x="2899256" y="253647"/>
            <a:ext cx="18470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835E067-724B-9ABD-B7E4-303A7A0E1777}"/>
              </a:ext>
            </a:extLst>
          </p:cNvPr>
          <p:cNvCxnSpPr/>
          <p:nvPr/>
        </p:nvCxnSpPr>
        <p:spPr>
          <a:xfrm flipH="1">
            <a:off x="6830949" y="253647"/>
            <a:ext cx="18470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3" name="Left Brace 32">
            <a:extLst>
              <a:ext uri="{FF2B5EF4-FFF2-40B4-BE49-F238E27FC236}">
                <a16:creationId xmlns:a16="http://schemas.microsoft.com/office/drawing/2014/main" id="{AB50CD34-AD97-1245-EA1E-A323602883FC}"/>
              </a:ext>
            </a:extLst>
          </p:cNvPr>
          <p:cNvSpPr/>
          <p:nvPr/>
        </p:nvSpPr>
        <p:spPr>
          <a:xfrm rot="10800000">
            <a:off x="4128700" y="1282436"/>
            <a:ext cx="388620" cy="2332292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17D5267-9485-0FEF-5863-CF4C5249A470}"/>
              </a:ext>
            </a:extLst>
          </p:cNvPr>
          <p:cNvSpPr txBox="1"/>
          <p:nvPr/>
        </p:nvSpPr>
        <p:spPr>
          <a:xfrm>
            <a:off x="5827014" y="1097771"/>
            <a:ext cx="717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Output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2EBA2B1-4736-3CEC-45D6-95C2D3C32DA6}"/>
              </a:ext>
            </a:extLst>
          </p:cNvPr>
          <p:cNvSpPr txBox="1"/>
          <p:nvPr/>
        </p:nvSpPr>
        <p:spPr>
          <a:xfrm>
            <a:off x="192024" y="1092106"/>
            <a:ext cx="717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2625657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C5634FE-B88C-BFE2-5D0A-377F49D20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417" y="470598"/>
            <a:ext cx="4031853" cy="280819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D4F2530-9D21-0ED1-4D81-6E451F9EB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6037" y="3351944"/>
            <a:ext cx="4519546" cy="262823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1968853-1B09-1FAD-4EC5-86514AF0F4D4}"/>
              </a:ext>
            </a:extLst>
          </p:cNvPr>
          <p:cNvSpPr txBox="1"/>
          <p:nvPr/>
        </p:nvSpPr>
        <p:spPr>
          <a:xfrm>
            <a:off x="192024" y="162821"/>
            <a:ext cx="851306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5</a:t>
            </a:r>
            <a:r>
              <a:rPr lang="en-IN" sz="1400" i="1" dirty="0"/>
              <a:t>: Identify companies where Profit Growth and EPS Growth diverge — profit is increasing but EPS is not.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BD26CA-775C-10F9-309E-9DCE4B9C9D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410" y="479755"/>
            <a:ext cx="5789583" cy="19741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EA88047-5091-83D0-125B-BD0FFCB07C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417" y="3429000"/>
            <a:ext cx="6302286" cy="2149026"/>
          </a:xfrm>
          <a:prstGeom prst="rect">
            <a:avLst/>
          </a:prstGeom>
        </p:spPr>
      </p:pic>
      <p:sp>
        <p:nvSpPr>
          <p:cNvPr id="8" name="Left Brace 7">
            <a:extLst>
              <a:ext uri="{FF2B5EF4-FFF2-40B4-BE49-F238E27FC236}">
                <a16:creationId xmlns:a16="http://schemas.microsoft.com/office/drawing/2014/main" id="{4D31FF6F-D880-A674-29D4-D0F429E08F71}"/>
              </a:ext>
            </a:extLst>
          </p:cNvPr>
          <p:cNvSpPr/>
          <p:nvPr/>
        </p:nvSpPr>
        <p:spPr>
          <a:xfrm>
            <a:off x="4970332" y="479755"/>
            <a:ext cx="281185" cy="209045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3A880A7-F1FD-78D1-53EC-8EC7B9E38FB9}"/>
              </a:ext>
            </a:extLst>
          </p:cNvPr>
          <p:cNvSpPr/>
          <p:nvPr/>
        </p:nvSpPr>
        <p:spPr>
          <a:xfrm rot="10800000">
            <a:off x="6594986" y="3428999"/>
            <a:ext cx="323963" cy="2295144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EECBEA-B7D0-38B3-F357-2B5E35B4C9CF}"/>
              </a:ext>
            </a:extLst>
          </p:cNvPr>
          <p:cNvSpPr txBox="1"/>
          <p:nvPr/>
        </p:nvSpPr>
        <p:spPr>
          <a:xfrm>
            <a:off x="53421" y="5587183"/>
            <a:ext cx="6094476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Several companies show strong profit growth while EPS growth remains weak or negative, creating a significant gap.</a:t>
            </a:r>
            <a:br>
              <a:rPr lang="en-IN" sz="1100" i="1" dirty="0"/>
            </a:br>
            <a:r>
              <a:rPr lang="en-IN" sz="1100" i="1" dirty="0"/>
              <a:t>• The divergence appears across multiple sectors rather than being industry-specific.</a:t>
            </a:r>
            <a:br>
              <a:rPr lang="en-IN" sz="1100" i="1" dirty="0"/>
            </a:br>
            <a:r>
              <a:rPr lang="en-IN" sz="1100" i="1" dirty="0"/>
              <a:t>• Some cases indicate profits growing substantially without proportional shareholder earnings improvement.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C9D1A95-2C18-C3FA-10EF-657DC48C45EB}"/>
              </a:ext>
            </a:extLst>
          </p:cNvPr>
          <p:cNvSpPr txBox="1"/>
          <p:nvPr/>
        </p:nvSpPr>
        <p:spPr>
          <a:xfrm>
            <a:off x="5556410" y="2415176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This pattern commonly indicates equity dilution, increase in share count, or non-operating profit contribution.</a:t>
            </a:r>
            <a:br>
              <a:rPr lang="en-IN" sz="1100" i="1" dirty="0"/>
            </a:br>
            <a:r>
              <a:rPr lang="en-IN" sz="1100" i="1" dirty="0"/>
              <a:t>• Rising profits without EPS expansion may reduce shareholder value creation quality.</a:t>
            </a:r>
            <a:br>
              <a:rPr lang="en-IN" sz="1100" i="1" dirty="0"/>
            </a:br>
            <a:r>
              <a:rPr lang="en-IN" sz="1100" i="1" dirty="0"/>
              <a:t>• Earnings growth alone may overstate actual investor returns.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66950-7729-A986-59F5-5A0F31125B41}"/>
              </a:ext>
            </a:extLst>
          </p:cNvPr>
          <p:cNvSpPr txBox="1"/>
          <p:nvPr/>
        </p:nvSpPr>
        <p:spPr>
          <a:xfrm>
            <a:off x="7280910" y="5980176"/>
            <a:ext cx="4780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Review share capital changes and dilution history.</a:t>
            </a:r>
            <a:br>
              <a:rPr lang="en-IN" sz="1100" i="1" dirty="0"/>
            </a:br>
            <a:r>
              <a:rPr lang="en-IN" sz="1100" i="1" dirty="0"/>
              <a:t>• Prioritize companies where EPS and profit growth move consistently together.</a:t>
            </a:r>
            <a:br>
              <a:rPr lang="en-IN" sz="1100" i="1" dirty="0"/>
            </a:br>
            <a:r>
              <a:rPr lang="en-IN" sz="1100" i="1" dirty="0"/>
              <a:t>• Validate whether profit growth is recurring and operational.</a:t>
            </a:r>
          </a:p>
        </p:txBody>
      </p:sp>
    </p:spTree>
    <p:extLst>
      <p:ext uri="{BB962C8B-B14F-4D97-AF65-F5344CB8AC3E}">
        <p14:creationId xmlns:p14="http://schemas.microsoft.com/office/powerpoint/2010/main" val="30059513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16B1540-EF77-BB7E-C46E-4FE0B391CB14}"/>
              </a:ext>
            </a:extLst>
          </p:cNvPr>
          <p:cNvSpPr txBox="1"/>
          <p:nvPr/>
        </p:nvSpPr>
        <p:spPr>
          <a:xfrm>
            <a:off x="113084" y="97404"/>
            <a:ext cx="74855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b="1" i="1" dirty="0"/>
              <a:t>Question 6</a:t>
            </a:r>
            <a:r>
              <a:rPr lang="en-IN" sz="1400" i="1" dirty="0"/>
              <a:t>: Which sectors demonstrate sustainable 10-year growth (Sales + Profit + EPS all positive)?</a:t>
            </a:r>
          </a:p>
          <a:p>
            <a:endParaRPr lang="en-IN" sz="1400" i="1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0B97155-7911-FC7F-2623-05CEDD909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644" y="1016269"/>
            <a:ext cx="5949667" cy="2184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2F0347-F0A7-5942-339D-4DF7F8A9C3B2}"/>
              </a:ext>
            </a:extLst>
          </p:cNvPr>
          <p:cNvSpPr txBox="1"/>
          <p:nvPr/>
        </p:nvSpPr>
        <p:spPr>
          <a:xfrm>
            <a:off x="5737479" y="739270"/>
            <a:ext cx="717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F3EE70-06F5-7A1B-A9D9-7709090AF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84" y="1016268"/>
            <a:ext cx="5314481" cy="2184131"/>
          </a:xfrm>
          <a:prstGeom prst="rect">
            <a:avLst/>
          </a:prstGeom>
        </p:spPr>
      </p:pic>
      <p:sp>
        <p:nvSpPr>
          <p:cNvPr id="9" name="Left Brace 8">
            <a:extLst>
              <a:ext uri="{FF2B5EF4-FFF2-40B4-BE49-F238E27FC236}">
                <a16:creationId xmlns:a16="http://schemas.microsoft.com/office/drawing/2014/main" id="{8D4F95BE-24E1-A142-DC36-BD3A08020C45}"/>
              </a:ext>
            </a:extLst>
          </p:cNvPr>
          <p:cNvSpPr/>
          <p:nvPr/>
        </p:nvSpPr>
        <p:spPr>
          <a:xfrm rot="10800000">
            <a:off x="5324124" y="1016268"/>
            <a:ext cx="341211" cy="2184131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F8762-8676-67B7-847E-AD2878DAF8E2}"/>
              </a:ext>
            </a:extLst>
          </p:cNvPr>
          <p:cNvSpPr txBox="1"/>
          <p:nvPr/>
        </p:nvSpPr>
        <p:spPr>
          <a:xfrm>
            <a:off x="113084" y="4271444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Observation:</a:t>
            </a:r>
          </a:p>
          <a:p>
            <a:pPr>
              <a:buNone/>
            </a:pPr>
            <a:r>
              <a:rPr lang="en-IN" sz="1100" i="1" dirty="0"/>
              <a:t>• Multiple sectors delivered positive growth across sales, profit, and EPS over the 10-year period.</a:t>
            </a:r>
            <a:br>
              <a:rPr lang="en-IN" sz="1100" i="1" dirty="0"/>
            </a:br>
            <a:r>
              <a:rPr lang="en-IN" sz="1100" i="1" dirty="0"/>
              <a:t>• Consumer, healthcare, industrial, and infrastructure-linked sectors appear repeatedly among sustainable growers.</a:t>
            </a:r>
            <a:br>
              <a:rPr lang="en-IN" sz="1100" i="1" dirty="0"/>
            </a:br>
            <a:r>
              <a:rPr lang="en-IN" sz="1100" i="1" dirty="0"/>
              <a:t>• Trading shows scale advantage with the largest company representation.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4F903D-AE71-FDDC-4D02-2DABC969C165}"/>
              </a:ext>
            </a:extLst>
          </p:cNvPr>
          <p:cNvSpPr txBox="1"/>
          <p:nvPr/>
        </p:nvSpPr>
        <p:spPr>
          <a:xfrm>
            <a:off x="113084" y="5425121"/>
            <a:ext cx="6094476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/>
              <a:t>Insight:</a:t>
            </a:r>
          </a:p>
          <a:p>
            <a:pPr>
              <a:buNone/>
            </a:pPr>
            <a:r>
              <a:rPr lang="en-IN" sz="1100" i="1" dirty="0"/>
              <a:t>• Consistent growth across all three metrics indicates balanced business expansion and stronger earnings quality.</a:t>
            </a:r>
            <a:br>
              <a:rPr lang="en-IN" sz="1100" i="1" dirty="0"/>
            </a:br>
            <a:r>
              <a:rPr lang="en-IN" sz="1100" i="1" dirty="0"/>
              <a:t>• Sectors delivering both profit and EPS growth are more likely creating shareholder value sustainably.</a:t>
            </a:r>
            <a:br>
              <a:rPr lang="en-IN" sz="1100" i="1" dirty="0"/>
            </a:br>
            <a:r>
              <a:rPr lang="en-IN" sz="1100" i="1" dirty="0"/>
              <a:t>• Long-term consistency generally reflects stronger business resilience.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CD9A7C-06F2-9533-0B81-AFEB350F843D}"/>
              </a:ext>
            </a:extLst>
          </p:cNvPr>
          <p:cNvSpPr txBox="1"/>
          <p:nvPr/>
        </p:nvSpPr>
        <p:spPr>
          <a:xfrm>
            <a:off x="5737479" y="3305334"/>
            <a:ext cx="610362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100" b="1" i="1" dirty="0">
                <a:solidFill>
                  <a:srgbClr val="FF0000"/>
                </a:solidFill>
              </a:rPr>
              <a:t>Recommendation</a:t>
            </a:r>
            <a:r>
              <a:rPr lang="en-IN" sz="1100" b="1" i="1" dirty="0"/>
              <a:t>:</a:t>
            </a:r>
          </a:p>
          <a:p>
            <a:pPr>
              <a:buNone/>
            </a:pPr>
            <a:r>
              <a:rPr lang="en-IN" sz="1100" i="1" dirty="0"/>
              <a:t>• Prioritize sectors showing balanced growth rather than revenue growth alone.</a:t>
            </a:r>
            <a:br>
              <a:rPr lang="en-IN" sz="1100" i="1" dirty="0"/>
            </a:br>
            <a:r>
              <a:rPr lang="en-IN" sz="1100" i="1" dirty="0"/>
              <a:t>• Compare valuation levels before investment decisions.</a:t>
            </a:r>
            <a:br>
              <a:rPr lang="en-IN" sz="1100" i="1" dirty="0"/>
            </a:br>
            <a:r>
              <a:rPr lang="en-IN" sz="1100" i="1" dirty="0"/>
              <a:t>• Perform deeper analysis on margin sustainability and capital efficiency.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D4580A-8A14-FA74-0826-0BAA393BC4D8}"/>
              </a:ext>
            </a:extLst>
          </p:cNvPr>
          <p:cNvSpPr txBox="1"/>
          <p:nvPr/>
        </p:nvSpPr>
        <p:spPr>
          <a:xfrm>
            <a:off x="79168" y="739268"/>
            <a:ext cx="7170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i="1" dirty="0"/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363994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26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918882890778</dc:creator>
  <cp:lastModifiedBy>918882890778</cp:lastModifiedBy>
  <cp:revision>1</cp:revision>
  <dcterms:created xsi:type="dcterms:W3CDTF">2026-06-05T15:45:21Z</dcterms:created>
  <dcterms:modified xsi:type="dcterms:W3CDTF">2026-06-05T15:45:53Z</dcterms:modified>
</cp:coreProperties>
</file>