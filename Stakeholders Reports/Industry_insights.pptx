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90A7C-5FDA-4530-7A1E-ADDEAAD69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BAE6B-2919-CB71-731B-CFAA66505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2116B-95D9-0792-F4C8-1019321E3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356A0-FF18-4041-9D46-3958E9361F45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2306C-CD3A-0CC2-38BC-F40F4DAEC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0D795-1021-69B4-5101-E1DF37B8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8368-5A6C-43FB-A52C-1684B207C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11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0DF38-288E-51B7-1CAF-5D7BC4FD7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31459-D558-78DD-67B8-D9E309FB5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C796D-2CEC-822C-88E1-4128502F7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356A0-FF18-4041-9D46-3958E9361F45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B5C21-F5D7-C33F-5C49-2B4B0FC74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B77F2-874E-E18B-670F-F8A0F5832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8368-5A6C-43FB-A52C-1684B207C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71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08407-B376-FA0B-2666-81BC225AE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36DC5-B5FB-6286-2557-FAA3D92B5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888B2-5A6B-DE13-6A1D-DEBC5786B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356A0-FF18-4041-9D46-3958E9361F45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8813F-C90D-C428-4E72-731803BF9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55404-E5B6-B190-D284-C11B9FDD8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8368-5A6C-43FB-A52C-1684B207C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484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EDA33-B733-F00A-4ADE-491B2AE7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7B942-CB57-1FED-C8D6-0B72EDD01E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B0703B-0919-F612-DC64-6EAB560D9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7DC23C-FDB4-2781-BF38-4C8DE5DDD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356A0-FF18-4041-9D46-3958E9361F45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EA1A85-F71B-5823-2F19-904E4F8CC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7059F-BAC8-BF7C-B0A8-DBE7AD88F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8368-5A6C-43FB-A52C-1684B207C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817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E445-4A2E-F640-B61C-4516744AB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1F651-0C4A-0611-A227-32C120888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68829E-F7D2-EE24-4E58-8A2C638D40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633A84-9634-E0C3-736C-2C67A3A9CA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0D91EF-FB1D-D416-A25D-8303C41E89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02D7A5-87F1-2050-B07D-DEA10CEB2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356A0-FF18-4041-9D46-3958E9361F45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DF5B12-FC42-E1DB-420F-DAB64FF65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6A181F-5FB0-47B0-109D-0BF3FE417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8368-5A6C-43FB-A52C-1684B207C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154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7641E-5C36-5CBC-6235-5A30137B7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9FFE42-31DF-D658-CFEB-15656AF56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356A0-FF18-4041-9D46-3958E9361F45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8092F9-FE42-8E6A-6958-7A23DB77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089132-3092-9E51-214D-31FA416E4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8368-5A6C-43FB-A52C-1684B207C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407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569843-FFEA-57E0-1F31-5B9EEBAD1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356A0-FF18-4041-9D46-3958E9361F45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EEC19-D301-B9EA-C347-61DBC82D2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4BD06-6562-67A1-14F3-0926C6B97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8368-5A6C-43FB-A52C-1684B207C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97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54015-7E21-E763-4FB3-2450C9178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57B02-12CB-E269-47C8-93B166644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2C08D3-1ABE-0EBC-0EA1-70E256C244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4D697F-9462-F0F9-79FB-32FAC14CC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356A0-FF18-4041-9D46-3958E9361F45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9B3C58-B6F3-B2FF-371B-77528CA72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9B6D5-8F99-AC91-CD47-5F6FC5AEE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8368-5A6C-43FB-A52C-1684B207C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306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9BE2-8F5D-2488-05A6-BED68CF0B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7B8FDC-CFB0-5ADD-92AC-5D0A36C363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BC815A-41BE-5EB4-2469-D993101005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F3972-4628-641C-B81E-C7CD33DC0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356A0-FF18-4041-9D46-3958E9361F45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55177-8A3E-9170-D687-D8451F45C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38727-5573-A42B-6563-BFCB6F6CC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8368-5A6C-43FB-A52C-1684B207C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236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FCB91-1FD6-69F3-235F-1C12A485B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C956EF-437B-C886-F54C-683FBF8EAA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ED2DC-4E14-0495-183B-9AD404087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356A0-FF18-4041-9D46-3958E9361F45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43203-0598-C56E-8BD9-9924ADA9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C12AF-6D62-1608-4A72-C6D68908A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8368-5A6C-43FB-A52C-1684B207C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21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53B952-9A0E-52EB-97B2-78D25C8040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57BC06-CC6B-6F73-F3D9-2917CE14A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12E37-2593-6A92-2F24-5317136D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356A0-FF18-4041-9D46-3958E9361F45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B0819-70F5-E982-9D7C-5CE683987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64CB3-5AAB-3BBD-94DF-7C8A27889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8368-5A6C-43FB-A52C-1684B207C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600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98D117-ED4A-25EC-6F5F-ABD306674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6A681-0828-E7FC-E083-CE6F6149A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03636-531B-033E-3E9E-F372ED1A5A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356A0-FF18-4041-9D46-3958E9361F45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0AED2-588F-1F8F-7DAE-021C46D703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BFEE0-33AC-DE9B-A0DF-9EE4301B9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C8368-5A6C-43FB-A52C-1684B207C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887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73BFA28-93EF-1878-3936-547E8E515400}"/>
              </a:ext>
            </a:extLst>
          </p:cNvPr>
          <p:cNvSpPr txBox="1"/>
          <p:nvPr/>
        </p:nvSpPr>
        <p:spPr>
          <a:xfrm>
            <a:off x="4684394" y="0"/>
            <a:ext cx="3261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INDUSTRY-LEVEL INSIGHTS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73A4DA-EA3A-02BC-3F80-BCDC1DDBC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301" y="1576676"/>
            <a:ext cx="5317553" cy="19568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E1EBBE-2E11-66F3-D0BA-D46673D305F9}"/>
              </a:ext>
            </a:extLst>
          </p:cNvPr>
          <p:cNvSpPr txBox="1"/>
          <p:nvPr/>
        </p:nvSpPr>
        <p:spPr>
          <a:xfrm>
            <a:off x="267462" y="440138"/>
            <a:ext cx="7258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1" dirty="0"/>
              <a:t>Question</a:t>
            </a:r>
            <a:r>
              <a:rPr lang="en-IN" sz="1400" i="1" dirty="0"/>
              <a:t>: Which sector is fundamentally strongest based on Industry-wise Median OPM, ROCE, and Debt-to-Profit?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A2E17B2-C49B-A275-6941-9E7C345CE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46" y="1408175"/>
            <a:ext cx="5578323" cy="2293819"/>
          </a:xfrm>
          <a:prstGeom prst="rect">
            <a:avLst/>
          </a:prstGeom>
        </p:spPr>
      </p:pic>
      <p:sp>
        <p:nvSpPr>
          <p:cNvPr id="32" name="Right Brace 31">
            <a:extLst>
              <a:ext uri="{FF2B5EF4-FFF2-40B4-BE49-F238E27FC236}">
                <a16:creationId xmlns:a16="http://schemas.microsoft.com/office/drawing/2014/main" id="{9EB20097-2D5F-C3A0-B639-7F87F4F55CEE}"/>
              </a:ext>
            </a:extLst>
          </p:cNvPr>
          <p:cNvSpPr/>
          <p:nvPr/>
        </p:nvSpPr>
        <p:spPr>
          <a:xfrm>
            <a:off x="5934154" y="1362455"/>
            <a:ext cx="405494" cy="2385258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7DAF55-7E6C-8510-5EEE-042B1F4D880C}"/>
              </a:ext>
            </a:extLst>
          </p:cNvPr>
          <p:cNvSpPr txBox="1"/>
          <p:nvPr/>
        </p:nvSpPr>
        <p:spPr>
          <a:xfrm>
            <a:off x="267462" y="3899238"/>
            <a:ext cx="5502402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Observation:</a:t>
            </a:r>
            <a:endParaRPr lang="en-IN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Personal Care - Multinational leads with highest median ROCE (~74) and strong OPM (~25), indicating premium pricing power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Food Processing and Pharmaceuticals follow closely — both show consistent margins above sector average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Most sectors show Debt-to-Profit below 1, suggesting broad deleveraging trend across Indian listed companies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20FDDFA-0926-A433-2C76-9CA79426F0AF}"/>
              </a:ext>
            </a:extLst>
          </p:cNvPr>
          <p:cNvSpPr txBox="1"/>
          <p:nvPr/>
        </p:nvSpPr>
        <p:spPr>
          <a:xfrm>
            <a:off x="267462" y="5373755"/>
            <a:ext cx="5502402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Insight:</a:t>
            </a:r>
            <a:endParaRPr lang="en-IN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MNC-backed consumer sectors maintain superior margins due to brand moats and pricing power unavailable to domestic peers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Pharma and Food Processing benefit from inelastic demand — revenue stays stable regardless of economic cycles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Low debt-to-profit across sectors suggests post-COVID balance sheet cleanup has been largely successful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8D01D6-0DFA-44F0-585E-0E2A40CD9D2F}"/>
              </a:ext>
            </a:extLst>
          </p:cNvPr>
          <p:cNvSpPr txBox="1"/>
          <p:nvPr/>
        </p:nvSpPr>
        <p:spPr>
          <a:xfrm>
            <a:off x="6554301" y="3592812"/>
            <a:ext cx="520065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>
                <a:solidFill>
                  <a:srgbClr val="FF0000"/>
                </a:solidFill>
              </a:rPr>
              <a:t>Recommendation</a:t>
            </a:r>
            <a:r>
              <a:rPr lang="en-IN" sz="1100" b="1" i="1" dirty="0"/>
              <a:t>:</a:t>
            </a:r>
            <a:endParaRPr lang="en-IN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Prioritize MNC Consumer and Pharma sectors for quality screening — combine with ROCE &gt; 20 filter for stock selection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Avoid sectors with median OPM below 10 and debt-to-profit above 0.5 simultaneously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Follow up: Compare these medians against 3-year trend to confirm structural strength vs temporary improvement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23167E-A79B-0FB3-DC73-5D5D741FE786}"/>
              </a:ext>
            </a:extLst>
          </p:cNvPr>
          <p:cNvSpPr txBox="1"/>
          <p:nvPr/>
        </p:nvSpPr>
        <p:spPr>
          <a:xfrm>
            <a:off x="6554301" y="1299677"/>
            <a:ext cx="6586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Output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1C6CFF9-5503-2948-3432-922CAF2EF7CD}"/>
              </a:ext>
            </a:extLst>
          </p:cNvPr>
          <p:cNvSpPr txBox="1"/>
          <p:nvPr/>
        </p:nvSpPr>
        <p:spPr>
          <a:xfrm>
            <a:off x="267462" y="1173622"/>
            <a:ext cx="6586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Query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B8A0893-378A-C845-0E76-698DF46DAF2D}"/>
              </a:ext>
            </a:extLst>
          </p:cNvPr>
          <p:cNvCxnSpPr>
            <a:stCxn id="5" idx="1"/>
          </p:cNvCxnSpPr>
          <p:nvPr/>
        </p:nvCxnSpPr>
        <p:spPr>
          <a:xfrm flipH="1" flipV="1">
            <a:off x="3493008" y="182880"/>
            <a:ext cx="1191386" cy="178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5A630EF-CFDC-5494-9B84-0119DC01E103}"/>
              </a:ext>
            </a:extLst>
          </p:cNvPr>
          <p:cNvCxnSpPr/>
          <p:nvPr/>
        </p:nvCxnSpPr>
        <p:spPr>
          <a:xfrm flipH="1" flipV="1">
            <a:off x="7869936" y="181094"/>
            <a:ext cx="1191386" cy="178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3016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980DE74-4DCA-C088-ABC7-09B55C6C2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8342" y="1761353"/>
            <a:ext cx="4342454" cy="43088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796B3F8-2C74-4471-193B-30658CE51E0F}"/>
              </a:ext>
            </a:extLst>
          </p:cNvPr>
          <p:cNvSpPr txBox="1"/>
          <p:nvPr/>
        </p:nvSpPr>
        <p:spPr>
          <a:xfrm>
            <a:off x="51816" y="64448"/>
            <a:ext cx="82273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1" dirty="0"/>
              <a:t>Question:</a:t>
            </a:r>
            <a:r>
              <a:rPr lang="en-IN" sz="1400" i="1" dirty="0"/>
              <a:t> Finance &amp; Investments sector has 560 companies — what is their average leverage and net worth? How much NBFC risk exists?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AC73E3-9AC8-65BB-76C4-0EE0C984C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945" y="1195680"/>
            <a:ext cx="5883150" cy="1562235"/>
          </a:xfrm>
          <a:prstGeom prst="rect">
            <a:avLst/>
          </a:prstGeom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68CCFA97-7D20-04C8-6E6D-FEDB64FF78A0}"/>
              </a:ext>
            </a:extLst>
          </p:cNvPr>
          <p:cNvSpPr/>
          <p:nvPr/>
        </p:nvSpPr>
        <p:spPr>
          <a:xfrm>
            <a:off x="6437376" y="1195680"/>
            <a:ext cx="284841" cy="167553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EFF2EB-7833-520D-C5D0-66B7194F38E3}"/>
              </a:ext>
            </a:extLst>
          </p:cNvPr>
          <p:cNvSpPr txBox="1"/>
          <p:nvPr/>
        </p:nvSpPr>
        <p:spPr>
          <a:xfrm>
            <a:off x="136398" y="3858089"/>
            <a:ext cx="60944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Observation:</a:t>
            </a:r>
            <a:endParaRPr lang="en-IN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Sector average leverage stands at 2.46x with average net worth of ~₹2,147 Cr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Average debt of ₹3,453 Cr against 560 companies signals significant borrowing concentration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36 companies flagged as high leverage — roughly 6.4% of the sector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3BA7CC-19C6-DDF7-7216-10502662DF41}"/>
              </a:ext>
            </a:extLst>
          </p:cNvPr>
          <p:cNvSpPr txBox="1"/>
          <p:nvPr/>
        </p:nvSpPr>
        <p:spPr>
          <a:xfrm>
            <a:off x="136398" y="5108322"/>
            <a:ext cx="626364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Insight:</a:t>
            </a:r>
            <a:endParaRPr lang="en-IN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Leverage of 2.46x is relatively moderate for financial services, but high variance likely exists between large NBFCs and small players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High-leverage subset (36 companies) poses systemic risk — these are potential stress points if interest rates rise or credit quality deteriorates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Large average debt suggests sector is dominated by a few large NBFCs pulling up the mean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F07E8A-20D4-7B85-46F6-7867B9929EBC}"/>
              </a:ext>
            </a:extLst>
          </p:cNvPr>
          <p:cNvSpPr txBox="1"/>
          <p:nvPr/>
        </p:nvSpPr>
        <p:spPr>
          <a:xfrm>
            <a:off x="7042220" y="2993195"/>
            <a:ext cx="514978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>
                <a:solidFill>
                  <a:srgbClr val="FF0000"/>
                </a:solidFill>
              </a:rPr>
              <a:t>Recommendation</a:t>
            </a:r>
            <a:r>
              <a:rPr lang="en-IN" sz="1100" b="1" i="1" dirty="0"/>
              <a:t>:</a:t>
            </a:r>
            <a:endParaRPr lang="en-IN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Isolate the 36 high-leverage companies for deeper solvency analysis — check interest coverage and NPA trends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Do not treat sector as homogeneous — segment into Banks, NBFCs, Insurance, and AMCs separately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Monitor RBI policy changes closely — rate hikes directly compress NBFC margins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4D0DBB-B1E4-F725-9503-F51355E6E952}"/>
              </a:ext>
            </a:extLst>
          </p:cNvPr>
          <p:cNvSpPr txBox="1"/>
          <p:nvPr/>
        </p:nvSpPr>
        <p:spPr>
          <a:xfrm>
            <a:off x="7249245" y="1484354"/>
            <a:ext cx="6586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Output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A83BB2-5DCE-A684-783F-E1D1E11D2D9E}"/>
              </a:ext>
            </a:extLst>
          </p:cNvPr>
          <p:cNvSpPr txBox="1"/>
          <p:nvPr/>
        </p:nvSpPr>
        <p:spPr>
          <a:xfrm>
            <a:off x="411225" y="934785"/>
            <a:ext cx="6586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Query</a:t>
            </a:r>
          </a:p>
        </p:txBody>
      </p:sp>
    </p:spTree>
    <p:extLst>
      <p:ext uri="{BB962C8B-B14F-4D97-AF65-F5344CB8AC3E}">
        <p14:creationId xmlns:p14="http://schemas.microsoft.com/office/powerpoint/2010/main" val="1421602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7BCB430-933C-DF98-EA52-CD6A04D7A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01587"/>
            <a:ext cx="5689813" cy="24548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9F1D384-6E1D-84D5-B417-875FB666B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1078431"/>
            <a:ext cx="5461213" cy="64249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37D27F9-46D5-D4D6-7CD9-7AD83DBD7A76}"/>
              </a:ext>
            </a:extLst>
          </p:cNvPr>
          <p:cNvSpPr txBox="1"/>
          <p:nvPr/>
        </p:nvSpPr>
        <p:spPr>
          <a:xfrm>
            <a:off x="82296" y="74551"/>
            <a:ext cx="81046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1" dirty="0"/>
              <a:t>Question:</a:t>
            </a:r>
            <a:r>
              <a:rPr lang="en-IN" sz="1400" i="1" dirty="0"/>
              <a:t> Construction sector (323 companies) — how is working capital and current ratio? Is there liquidity stress?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98E0F8-BA04-2F58-53CF-DB28C45C57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095" y="2564055"/>
            <a:ext cx="2591025" cy="17298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34605C-F229-47D5-94CD-5202423247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057" y="791765"/>
            <a:ext cx="5024731" cy="1219915"/>
          </a:xfrm>
          <a:prstGeom prst="rect">
            <a:avLst/>
          </a:prstGeom>
        </p:spPr>
      </p:pic>
      <p:sp>
        <p:nvSpPr>
          <p:cNvPr id="8" name="Right Brace 7">
            <a:extLst>
              <a:ext uri="{FF2B5EF4-FFF2-40B4-BE49-F238E27FC236}">
                <a16:creationId xmlns:a16="http://schemas.microsoft.com/office/drawing/2014/main" id="{7A67611A-34FA-C1A5-1896-9C5A40A10AE3}"/>
              </a:ext>
            </a:extLst>
          </p:cNvPr>
          <p:cNvSpPr/>
          <p:nvPr/>
        </p:nvSpPr>
        <p:spPr>
          <a:xfrm>
            <a:off x="5550408" y="978408"/>
            <a:ext cx="155448" cy="91440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CBF515C5-E590-AA4E-ACB5-D38C41C02298}"/>
              </a:ext>
            </a:extLst>
          </p:cNvPr>
          <p:cNvSpPr/>
          <p:nvPr/>
        </p:nvSpPr>
        <p:spPr>
          <a:xfrm>
            <a:off x="5490972" y="2525610"/>
            <a:ext cx="274320" cy="1806777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F31727-DCE8-F9DF-3B8A-5E43DF7DCD00}"/>
              </a:ext>
            </a:extLst>
          </p:cNvPr>
          <p:cNvSpPr txBox="1"/>
          <p:nvPr/>
        </p:nvSpPr>
        <p:spPr>
          <a:xfrm>
            <a:off x="186731" y="4443902"/>
            <a:ext cx="5793445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Observation:</a:t>
            </a:r>
            <a:endParaRPr lang="en-IN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65 out of 323 companies are liquidity stressed — nearly 20% of the sector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Average current ratio of 13.68 seems inflated — individual company data shows SKIL </a:t>
            </a:r>
            <a:r>
              <a:rPr lang="en-IN" sz="1100" i="1" dirty="0" err="1"/>
              <a:t>Infrasture</a:t>
            </a:r>
            <a:r>
              <a:rPr lang="en-IN" sz="1100" i="1" dirty="0"/>
              <a:t> at 0, Hemisphere Prop and others with negative working capital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Several companies show negative working capital alongside high debt and null interest coverage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AC8380-8F6E-1A19-5D5F-C193C989D741}"/>
              </a:ext>
            </a:extLst>
          </p:cNvPr>
          <p:cNvSpPr txBox="1"/>
          <p:nvPr/>
        </p:nvSpPr>
        <p:spPr>
          <a:xfrm>
            <a:off x="186731" y="5551898"/>
            <a:ext cx="6094476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Insight:</a:t>
            </a:r>
            <a:endParaRPr lang="en-IN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Construction sector structurally suffers from long payment cycles — clients delay payments while material costs are upfront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Null interest coverage in multiple companies suggests these firms cannot service debt from operations — survival depends on refinancing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Negative working capital combined with high debt is a classic pre-default pattern in infrastructure companies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81F879-D797-DBF4-1AD8-3B77C0C1AE56}"/>
              </a:ext>
            </a:extLst>
          </p:cNvPr>
          <p:cNvSpPr txBox="1"/>
          <p:nvPr/>
        </p:nvSpPr>
        <p:spPr>
          <a:xfrm>
            <a:off x="6210300" y="4671573"/>
            <a:ext cx="530801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>
                <a:solidFill>
                  <a:srgbClr val="FF0000"/>
                </a:solidFill>
              </a:rPr>
              <a:t>Recommendation</a:t>
            </a:r>
            <a:r>
              <a:rPr lang="en-IN" sz="1100" b="1" i="1" dirty="0"/>
              <a:t>:</a:t>
            </a:r>
            <a:endParaRPr lang="en-IN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Avoid construction companies with current ratio below 0.5 and negative working capital simultaneously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Flag companies with null interest coverage for exclusion from any investment screener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Cross-check against NCLT/IBC filings — several names here may already be under insolvency proceedings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ACFBC1-81FA-2A18-083B-17682CB6CEB3}"/>
              </a:ext>
            </a:extLst>
          </p:cNvPr>
          <p:cNvSpPr txBox="1"/>
          <p:nvPr/>
        </p:nvSpPr>
        <p:spPr>
          <a:xfrm>
            <a:off x="6210300" y="801432"/>
            <a:ext cx="6586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Output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8C23A1-667B-5601-D3FD-11EC001FC0B4}"/>
              </a:ext>
            </a:extLst>
          </p:cNvPr>
          <p:cNvSpPr txBox="1"/>
          <p:nvPr/>
        </p:nvSpPr>
        <p:spPr>
          <a:xfrm>
            <a:off x="6210300" y="1931324"/>
            <a:ext cx="6586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Output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D8199F-E2CB-B8AF-1FEA-A88BC0D7B8CA}"/>
              </a:ext>
            </a:extLst>
          </p:cNvPr>
          <p:cNvSpPr txBox="1"/>
          <p:nvPr/>
        </p:nvSpPr>
        <p:spPr>
          <a:xfrm>
            <a:off x="186731" y="556269"/>
            <a:ext cx="6586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Query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E52889-5950-3356-1429-6E52019F7662}"/>
              </a:ext>
            </a:extLst>
          </p:cNvPr>
          <p:cNvSpPr txBox="1"/>
          <p:nvPr/>
        </p:nvSpPr>
        <p:spPr>
          <a:xfrm>
            <a:off x="1664095" y="2382337"/>
            <a:ext cx="6586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Query</a:t>
            </a:r>
          </a:p>
        </p:txBody>
      </p:sp>
    </p:spTree>
    <p:extLst>
      <p:ext uri="{BB962C8B-B14F-4D97-AF65-F5344CB8AC3E}">
        <p14:creationId xmlns:p14="http://schemas.microsoft.com/office/powerpoint/2010/main" val="2999212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</Words>
  <Application>Microsoft Office PowerPoint</Application>
  <PresentationFormat>Widescreen</PresentationFormat>
  <Paragraphs>48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918882890778</dc:creator>
  <cp:lastModifiedBy>918882890778</cp:lastModifiedBy>
  <cp:revision>1</cp:revision>
  <dcterms:created xsi:type="dcterms:W3CDTF">2026-06-06T05:40:21Z</dcterms:created>
  <dcterms:modified xsi:type="dcterms:W3CDTF">2026-06-06T05:40:50Z</dcterms:modified>
</cp:coreProperties>
</file>