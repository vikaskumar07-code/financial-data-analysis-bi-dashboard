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1E65F1-D2AE-4AC8-9877-EEA813DEE7A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C6A4E-2E50-4594-BF82-BC35C80DB8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866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C6A4E-2E50-4594-BF82-BC35C80DB87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078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A713B-D7E6-3751-3658-86BC54ABAC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6DA929-F648-5500-20DA-1884C1091D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979F9-F85A-259B-E348-C92DF0E85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CBD94-89CD-47DC-9DBA-F32B52F5C78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0774F-C7AA-1370-225F-3BD494C78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6172-8459-DA4A-B342-C461D2BF7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F2D-9C0A-4A02-9032-D2E006FAC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560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2FB41-6A8B-4408-AA8E-905C77F9D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107B7-F7D0-5AA0-18D6-DAE9B107C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EC103-70FA-2FBA-3EA5-468C9C40C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CBD94-89CD-47DC-9DBA-F32B52F5C78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54165-DAC8-7100-6D03-CA199845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82EAE-5E03-DD5E-3F42-CF78672F6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F2D-9C0A-4A02-9032-D2E006FAC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39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ABEED-B5C8-181F-61C5-5B1F8CBC4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E1F2E-2D09-0DA7-1BCD-A2E5721BA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4A553-63A3-88CC-0EAD-7CF965323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CBD94-89CD-47DC-9DBA-F32B52F5C78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DF806-6BFE-28BC-28C0-C9989037D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669BD-1047-0BCC-7643-03C4B505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F2D-9C0A-4A02-9032-D2E006FAC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138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2D4CC-9E2C-272F-5128-41DDD2BD6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A5F0E-9409-C1FE-DD83-2A2C3CA769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E2BFA5-8945-7275-7613-0A504FAB7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36E33-0815-1932-3ABA-A7D8F5974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CBD94-89CD-47DC-9DBA-F32B52F5C78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03409-D60B-DBC4-5F3D-9F671F760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135196-7FD8-66E2-348F-A8F0654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F2D-9C0A-4A02-9032-D2E006FAC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123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B3AB6-0740-D822-9B41-ACED831C3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11DC62-D156-2D41-8B6A-0E7179AAD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BD947-9AEA-76A2-2B3D-F06704AAD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50D00F-DDB8-3957-8B7A-B6369DCFF8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8B8B9B-B4CB-814E-DCB1-771DE4B2AD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761D91-2CF4-DE5C-E19A-72CFB7882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CBD94-89CD-47DC-9DBA-F32B52F5C78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3821D5-184E-1832-C5D8-A0FC25201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DB6BD4-F48A-668E-5676-0879ACA4D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F2D-9C0A-4A02-9032-D2E006FAC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796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914F8-10C5-8046-0E76-1D0B4F271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B83C44-BE4F-E62C-3A5B-F4B44D253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CBD94-89CD-47DC-9DBA-F32B52F5C78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52BCBC-1BB5-5476-D340-668326FDE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0446D9-DB95-4961-7D0C-F62191E40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F2D-9C0A-4A02-9032-D2E006FAC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055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4100F1-EFD5-B29E-6524-0702136FD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CBD94-89CD-47DC-9DBA-F32B52F5C78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A7A38-DD60-0867-FCFB-5A149EFE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DD945C-CE43-A2AE-F186-AF08CCAE3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F2D-9C0A-4A02-9032-D2E006FAC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769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EB601-27B3-DB21-67C6-A98E166EE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AC7DA-6CD1-E177-C0C9-CEB5F1452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ADB0A4-8F44-CBD8-34D9-C7F3FDC6C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D9E90-DD89-0A30-318E-E2AE59E32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CBD94-89CD-47DC-9DBA-F32B52F5C78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3EBC8-C087-0E5F-B2B7-AC1A6927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2C5B2-EF4B-48FF-C3E2-EA94F47B1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F2D-9C0A-4A02-9032-D2E006FAC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359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E853D-0790-9407-6717-505501A46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FAE848-D34A-C3A0-DC30-A8A7295E8A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FD36CF-29C1-180A-5E16-D8B392090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AFD9C3-10D5-42F3-07C4-B4DD8BF4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CBD94-89CD-47DC-9DBA-F32B52F5C78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1C2BF-4641-A772-982E-FFAA81EDE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FC758-7E8F-1521-6338-1173F3974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F2D-9C0A-4A02-9032-D2E006FAC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635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EB9AB-F15A-5BC0-E6BA-F8E6D74BF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4912C-7964-5E8D-476D-383D6FEBD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5109F-00EA-4728-76DA-25A227A99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CBD94-89CD-47DC-9DBA-F32B52F5C78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B648A-0C0C-4220-23AC-3B56CA837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9216E-3BE1-8F10-929D-50076FB4C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F2D-9C0A-4A02-9032-D2E006FAC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914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47E2E1-F610-E724-8CCB-763C453854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FB006-6366-C606-1DF1-43B8788A1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4C5CB-EBBD-4B13-2496-CA9164C8F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CBD94-89CD-47DC-9DBA-F32B52F5C78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7255C-48E1-6C76-C9E8-1895BF399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88946-F831-7FEB-E82B-32559F547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F2D-9C0A-4A02-9032-D2E006FAC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352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9B2394-016D-A7F5-E098-9F28D3C2E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844CF-339F-0F5A-42DF-F4FAFF44A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3D9F1-3032-AA1D-E1D4-C6ECEAACA0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CBD94-89CD-47DC-9DBA-F32B52F5C78D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5D21A-99C8-95F4-A625-DC9893310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2FE16-4622-165E-1582-DAB78B730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44F2D-9C0A-4A02-9032-D2E006FAC1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997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31C3D7-1945-DDAB-DD3F-DFA9DA138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177" y="176929"/>
            <a:ext cx="3989832" cy="31340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PROFITABILITY &amp; MARGINS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A7156B-EF7F-7538-538F-18944F675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7326" y="1176695"/>
            <a:ext cx="3876058" cy="20347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89F127-06A5-57BA-C05F-FBEAC4D721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7326" y="3276534"/>
            <a:ext cx="3876058" cy="203476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4552848-DBA6-2CC9-6773-642530B07E9C}"/>
              </a:ext>
            </a:extLst>
          </p:cNvPr>
          <p:cNvSpPr txBox="1"/>
          <p:nvPr/>
        </p:nvSpPr>
        <p:spPr>
          <a:xfrm>
            <a:off x="188976" y="490331"/>
            <a:ext cx="95676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Question 1</a:t>
            </a:r>
            <a:r>
              <a:rPr lang="en-IN" sz="1400" i="1" dirty="0"/>
              <a:t>: Which industries consistently maintain high profitability margins (20%+) and which industries chronically operate with negative margins?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54919A-0126-3043-E411-9EDDFFFE5A31}"/>
              </a:ext>
            </a:extLst>
          </p:cNvPr>
          <p:cNvSpPr txBox="1"/>
          <p:nvPr/>
        </p:nvSpPr>
        <p:spPr>
          <a:xfrm>
            <a:off x="7197327" y="908839"/>
            <a:ext cx="7360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i="1" dirty="0"/>
              <a:t>OUTPUT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1620862-02F7-2B48-4E20-A7369380C8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177" y="1081125"/>
            <a:ext cx="5464013" cy="256054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C75C32A-E8B2-4225-EC15-BAB8F59CDA8C}"/>
              </a:ext>
            </a:extLst>
          </p:cNvPr>
          <p:cNvSpPr txBox="1"/>
          <p:nvPr/>
        </p:nvSpPr>
        <p:spPr>
          <a:xfrm>
            <a:off x="188975" y="942625"/>
            <a:ext cx="5842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i="1" dirty="0"/>
              <a:t>Query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F60104-2CD0-DC4C-6773-7FB64BA461A4}"/>
              </a:ext>
            </a:extLst>
          </p:cNvPr>
          <p:cNvSpPr txBox="1"/>
          <p:nvPr/>
        </p:nvSpPr>
        <p:spPr>
          <a:xfrm>
            <a:off x="188975" y="3837846"/>
            <a:ext cx="5907024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</a:p>
          <a:p>
            <a:pPr>
              <a:buNone/>
            </a:pPr>
            <a:r>
              <a:rPr lang="en-IN" sz="1100" i="1" dirty="0"/>
              <a:t>• Financial and financial-services-linked industries dominate the highest average margin group, with Finance – Term Lending Institutions and Banks showing the strongest profitability profile.</a:t>
            </a:r>
            <a:br>
              <a:rPr lang="en-IN" sz="1100" i="1" dirty="0"/>
            </a:br>
            <a:r>
              <a:rPr lang="en-IN" sz="1100" i="1" dirty="0"/>
              <a:t>• Asset-light and specialized sectors such as Pharmaceuticals (Multinational), Cigarettes, and Power Generation also maintain consistently strong margins above the benchmark.</a:t>
            </a:r>
            <a:br>
              <a:rPr lang="en-IN" sz="1100" i="1" dirty="0"/>
            </a:br>
            <a:r>
              <a:rPr lang="en-IN" sz="1100" i="1" dirty="0"/>
              <a:t>• Loss-making industries are concentrated in manufacturing-heavy and operationally intensive sectors including Plastics Products, Breweries &amp; Distilleries, Textiles, and Trading.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380716-457B-97CA-1034-52E0A9865AB2}"/>
              </a:ext>
            </a:extLst>
          </p:cNvPr>
          <p:cNvSpPr txBox="1"/>
          <p:nvPr/>
        </p:nvSpPr>
        <p:spPr>
          <a:xfrm>
            <a:off x="188975" y="5311298"/>
            <a:ext cx="609447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</a:p>
          <a:p>
            <a:pPr>
              <a:buNone/>
            </a:pPr>
            <a:r>
              <a:rPr lang="en-IN" sz="1100" i="1" dirty="0"/>
              <a:t>• High-margin sectors generally benefit from pricing power, capital efficiency, brand strength, or scalable business models with lower variable costs.</a:t>
            </a:r>
            <a:br>
              <a:rPr lang="en-IN" sz="1100" i="1" dirty="0"/>
            </a:br>
            <a:r>
              <a:rPr lang="en-IN" sz="1100" i="1" dirty="0"/>
              <a:t>• Financial institutions can generate stronger returns through spread economics and balance-sheet leverage when operating efficiently.</a:t>
            </a:r>
            <a:br>
              <a:rPr lang="en-IN" sz="1100" i="1" dirty="0"/>
            </a:br>
            <a:r>
              <a:rPr lang="en-IN" sz="1100" i="1" dirty="0"/>
              <a:t>• Negative-margin industries are often exposed to commodity volatility, higher fixed costs, fragmented competition, or weaker pricing control.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625AE0-0323-C688-7333-EEC3BED45F2C}"/>
              </a:ext>
            </a:extLst>
          </p:cNvPr>
          <p:cNvSpPr txBox="1"/>
          <p:nvPr/>
        </p:nvSpPr>
        <p:spPr>
          <a:xfrm>
            <a:off x="6262116" y="5403798"/>
            <a:ext cx="5818632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Recommendation:</a:t>
            </a:r>
          </a:p>
          <a:p>
            <a:pPr>
              <a:buNone/>
            </a:pPr>
            <a:r>
              <a:rPr lang="en-IN" sz="1100" i="1" dirty="0"/>
              <a:t>• Prioritize deeper analysis of high-margin sectors to identify sustainable drivers versus cyclical profitability spikes.</a:t>
            </a:r>
            <a:br>
              <a:rPr lang="en-IN" sz="1100" i="1" dirty="0"/>
            </a:br>
            <a:r>
              <a:rPr lang="en-IN" sz="1100" i="1" dirty="0"/>
              <a:t>• For low-margin industries, evaluate cost structure, utilization levels, and pricing strategy before considering growth investments.</a:t>
            </a:r>
            <a:br>
              <a:rPr lang="en-IN" sz="1100" i="1" dirty="0"/>
            </a:br>
            <a:r>
              <a:rPr lang="en-IN" sz="1100" i="1" dirty="0"/>
              <a:t>• Compare margin performance with industry growth rates to identify sectors that combine profitability with expansion potential.</a:t>
            </a:r>
          </a:p>
        </p:txBody>
      </p:sp>
    </p:spTree>
    <p:extLst>
      <p:ext uri="{BB962C8B-B14F-4D97-AF65-F5344CB8AC3E}">
        <p14:creationId xmlns:p14="http://schemas.microsoft.com/office/powerpoint/2010/main" val="428802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E2BBE40D-1672-AFD0-6E25-3B5B0F155962}"/>
              </a:ext>
            </a:extLst>
          </p:cNvPr>
          <p:cNvSpPr txBox="1">
            <a:spLocks/>
          </p:cNvSpPr>
          <p:nvPr/>
        </p:nvSpPr>
        <p:spPr>
          <a:xfrm>
            <a:off x="137160" y="114133"/>
            <a:ext cx="9612159" cy="507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400" b="1" i="1" dirty="0"/>
              <a:t>Question 2</a:t>
            </a:r>
            <a:r>
              <a:rPr lang="en-IN" sz="1400" i="1" dirty="0"/>
              <a:t>: Based on 3-year average ROCE (Return on Capital Employed), which companies rank among the top 10 and bottom 10, and which sectors dominate each group?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02BDC3-4EED-C594-A994-4A69174E3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101" y="667513"/>
            <a:ext cx="4250507" cy="20619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6149EF-751B-C971-8741-DAAB6EA7CA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2101" y="2833632"/>
            <a:ext cx="4250507" cy="20619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41AB11-6B23-7ECC-F12D-089C990953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694945"/>
            <a:ext cx="2484335" cy="3787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E1D4CE-2C92-DAD6-9B36-AE95B1C4BDA1}"/>
              </a:ext>
            </a:extLst>
          </p:cNvPr>
          <p:cNvSpPr txBox="1"/>
          <p:nvPr/>
        </p:nvSpPr>
        <p:spPr>
          <a:xfrm>
            <a:off x="140707" y="486835"/>
            <a:ext cx="5842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i="1" dirty="0"/>
              <a:t>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960A94-9E1D-5675-048D-4FD8B67642F4}"/>
              </a:ext>
            </a:extLst>
          </p:cNvPr>
          <p:cNvSpPr txBox="1"/>
          <p:nvPr/>
        </p:nvSpPr>
        <p:spPr>
          <a:xfrm>
            <a:off x="7394447" y="413683"/>
            <a:ext cx="6522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i="1" dirty="0"/>
              <a:t>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32C6D1-DC5A-D893-CD33-DE380A89931F}"/>
              </a:ext>
            </a:extLst>
          </p:cNvPr>
          <p:cNvSpPr txBox="1"/>
          <p:nvPr/>
        </p:nvSpPr>
        <p:spPr>
          <a:xfrm>
            <a:off x="137160" y="4509845"/>
            <a:ext cx="609447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</a:p>
          <a:p>
            <a:pPr>
              <a:buNone/>
            </a:pPr>
            <a:r>
              <a:rPr lang="en-IN" sz="1100" i="1" dirty="0"/>
              <a:t>• The highest ROCE performers are heavily concentrated in Textiles-related segments, along with representation from Healthcare, Trading, and Miscellaneous sectors.</a:t>
            </a:r>
            <a:br>
              <a:rPr lang="en-IN" sz="1100" i="1" dirty="0"/>
            </a:br>
            <a:r>
              <a:rPr lang="en-IN" sz="1100" i="1" dirty="0"/>
              <a:t>• Top-performing companies generated exceptionally high capital efficiency over the three-year period, significantly outperforming the lower-ranked group.</a:t>
            </a:r>
            <a:br>
              <a:rPr lang="en-IN" sz="1100" i="1" dirty="0"/>
            </a:br>
            <a:r>
              <a:rPr lang="en-IN" sz="1100" i="1" dirty="0"/>
              <a:t>• The bottom ROCE cohort includes Finance &amp; Investments, Media, Construction, Consumer Electronics, and Miscellaneous sectors.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6260A0-1E6B-4293-126E-73912C94C6AD}"/>
              </a:ext>
            </a:extLst>
          </p:cNvPr>
          <p:cNvSpPr txBox="1"/>
          <p:nvPr/>
        </p:nvSpPr>
        <p:spPr>
          <a:xfrm>
            <a:off x="137160" y="5759428"/>
            <a:ext cx="609447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</a:p>
          <a:p>
            <a:pPr>
              <a:buNone/>
            </a:pPr>
            <a:r>
              <a:rPr lang="en-IN" sz="1100" i="1" dirty="0"/>
              <a:t>• High ROCE concentration in selected manufacturing niches suggests efficient asset utilization and disciplined capital allocation.</a:t>
            </a:r>
            <a:br>
              <a:rPr lang="en-IN" sz="1100" i="1" dirty="0"/>
            </a:br>
            <a:r>
              <a:rPr lang="en-IN" sz="1100" i="1" dirty="0"/>
              <a:t>• Negative or weak ROCE often reflects underutilized assets, margin compression, poor investment decisions, or limited operating leverage..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E82E71-6DFF-C34D-47D3-7BAC29956146}"/>
              </a:ext>
            </a:extLst>
          </p:cNvPr>
          <p:cNvSpPr txBox="1"/>
          <p:nvPr/>
        </p:nvSpPr>
        <p:spPr>
          <a:xfrm>
            <a:off x="6231636" y="5759428"/>
            <a:ext cx="609447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Recommendation:</a:t>
            </a:r>
          </a:p>
          <a:p>
            <a:pPr>
              <a:buNone/>
            </a:pPr>
            <a:r>
              <a:rPr lang="en-IN" sz="1100" i="1" dirty="0"/>
              <a:t>• Use ROCE as a screening metric alongside revenue growth and margin quality to identify durable performers.</a:t>
            </a:r>
            <a:br>
              <a:rPr lang="en-IN" sz="1100" i="1" dirty="0"/>
            </a:br>
            <a:r>
              <a:rPr lang="en-IN" sz="1100" i="1" dirty="0"/>
              <a:t>• Investigate whether high ROCE companies achieved results through sustainable operations or temporary efficiency gains.</a:t>
            </a:r>
          </a:p>
        </p:txBody>
      </p:sp>
    </p:spTree>
    <p:extLst>
      <p:ext uri="{BB962C8B-B14F-4D97-AF65-F5344CB8AC3E}">
        <p14:creationId xmlns:p14="http://schemas.microsoft.com/office/powerpoint/2010/main" val="2977176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C84DFFD0-5650-B61C-13C3-0B1A52B4DB69}"/>
              </a:ext>
            </a:extLst>
          </p:cNvPr>
          <p:cNvSpPr txBox="1">
            <a:spLocks/>
          </p:cNvSpPr>
          <p:nvPr/>
        </p:nvSpPr>
        <p:spPr>
          <a:xfrm>
            <a:off x="161906" y="92449"/>
            <a:ext cx="9201550" cy="3337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00" b="1" i="1" dirty="0"/>
              <a:t>Question 3</a:t>
            </a:r>
            <a:r>
              <a:rPr lang="en-IN" sz="1600" i="1" dirty="0"/>
              <a:t>: Which companies have positive Profit After Tax (PAT) but negative Net Profit, and why does this occur?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CD29308-7EE3-8A92-5587-1E133469C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443" y="583145"/>
            <a:ext cx="5422030" cy="53660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6869BB-9AAF-5976-1C41-9E9911D92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97" y="492929"/>
            <a:ext cx="5334462" cy="19585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FA88D8-37BF-DCC6-D839-EFAC4C98226E}"/>
              </a:ext>
            </a:extLst>
          </p:cNvPr>
          <p:cNvSpPr txBox="1"/>
          <p:nvPr/>
        </p:nvSpPr>
        <p:spPr>
          <a:xfrm>
            <a:off x="6519443" y="354429"/>
            <a:ext cx="7360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i="1" dirty="0"/>
              <a:t>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429528-B6A6-9452-16FE-DC676F4E5478}"/>
              </a:ext>
            </a:extLst>
          </p:cNvPr>
          <p:cNvSpPr txBox="1"/>
          <p:nvPr/>
        </p:nvSpPr>
        <p:spPr>
          <a:xfrm>
            <a:off x="161906" y="306146"/>
            <a:ext cx="5953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i="1" dirty="0"/>
              <a:t>Query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D262A4-0427-C5AB-9E1C-04804D04D79B}"/>
              </a:ext>
            </a:extLst>
          </p:cNvPr>
          <p:cNvSpPr txBox="1"/>
          <p:nvPr/>
        </p:nvSpPr>
        <p:spPr>
          <a:xfrm>
            <a:off x="161906" y="2518163"/>
            <a:ext cx="609447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</a:p>
          <a:p>
            <a:pPr>
              <a:buNone/>
            </a:pPr>
            <a:r>
              <a:rPr lang="en-IN" sz="1100" i="1" dirty="0"/>
              <a:t>• A limited set of companies reported positive Profit After Tax while simultaneously recording negative Net Profit, indicating a mismatch between accounting layers.</a:t>
            </a:r>
            <a:br>
              <a:rPr lang="en-IN" sz="1100" i="1" dirty="0"/>
            </a:br>
            <a:r>
              <a:rPr lang="en-IN" sz="1100" i="1" dirty="0"/>
              <a:t>• The largest gap appears in companies with substantial difference values, suggesting significant non-operating or adjustment-related impacts.</a:t>
            </a:r>
            <a:br>
              <a:rPr lang="en-IN" sz="1100" i="1" dirty="0"/>
            </a:br>
            <a:r>
              <a:rPr lang="en-IN" sz="1100" i="1" dirty="0"/>
              <a:t>• Multiple sectors are represented, including Steel, Finance &amp; Investments, Packaging, Hotels, Chemicals, and Technology-related businesses.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6E537C-57A2-536D-49C1-BA7962EC75A4}"/>
              </a:ext>
            </a:extLst>
          </p:cNvPr>
          <p:cNvSpPr txBox="1"/>
          <p:nvPr/>
        </p:nvSpPr>
        <p:spPr>
          <a:xfrm>
            <a:off x="161906" y="3862160"/>
            <a:ext cx="609447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</a:p>
          <a:p>
            <a:pPr>
              <a:buNone/>
            </a:pPr>
            <a:r>
              <a:rPr lang="en-IN" sz="1100" i="1" dirty="0"/>
              <a:t>• Positive PAT with negative Net Profit typically occurs due to adjustments below the PAT line such as minority interest, exceptional items, discontinued operations, consolidated losses, or accounting reclassifications.</a:t>
            </a:r>
            <a:br>
              <a:rPr lang="en-IN" sz="1100" i="1" dirty="0"/>
            </a:br>
            <a:r>
              <a:rPr lang="en-IN" sz="1100" i="1" dirty="0"/>
              <a:t>• Large differences may indicate weaker earnings quality despite reporting positive post-tax results.</a:t>
            </a:r>
            <a:br>
              <a:rPr lang="en-IN" sz="1100" i="1" dirty="0"/>
            </a:br>
            <a:r>
              <a:rPr lang="en-IN" sz="1100" i="1" dirty="0"/>
              <a:t>• Investors focusing only on PAT may overestimate underlying profitability if final attributable earnings remain negative.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93608C-C30B-22F7-3F39-BC05A946AAA0}"/>
              </a:ext>
            </a:extLst>
          </p:cNvPr>
          <p:cNvSpPr txBox="1"/>
          <p:nvPr/>
        </p:nvSpPr>
        <p:spPr>
          <a:xfrm>
            <a:off x="161906" y="5206157"/>
            <a:ext cx="609447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Recommendation:</a:t>
            </a:r>
          </a:p>
          <a:p>
            <a:pPr>
              <a:buNone/>
            </a:pPr>
            <a:r>
              <a:rPr lang="en-IN" sz="1100" i="1" dirty="0"/>
              <a:t>• Perform a reconciliation analysis between PAT and Net Profit to identify the exact adjustment drivers.</a:t>
            </a:r>
            <a:br>
              <a:rPr lang="en-IN" sz="1100" i="1" dirty="0"/>
            </a:br>
            <a:r>
              <a:rPr lang="en-IN" sz="1100" i="1" dirty="0"/>
              <a:t>• Evaluate earnings quality metrics and recurring profit generation instead of relying on headline profitability.</a:t>
            </a:r>
            <a:br>
              <a:rPr lang="en-IN" sz="1100" i="1" dirty="0"/>
            </a:br>
            <a:r>
              <a:rPr lang="en-IN" sz="1100" i="1" dirty="0"/>
              <a:t>• Flag companies with repeated PAT–Net Profit divergence for governance and financial reporting review.</a:t>
            </a:r>
          </a:p>
        </p:txBody>
      </p:sp>
    </p:spTree>
    <p:extLst>
      <p:ext uri="{BB962C8B-B14F-4D97-AF65-F5344CB8AC3E}">
        <p14:creationId xmlns:p14="http://schemas.microsoft.com/office/powerpoint/2010/main" val="940146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633</Words>
  <Application>Microsoft Office PowerPoint</Application>
  <PresentationFormat>Widescreen</PresentationFormat>
  <Paragraphs>29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918882890778</dc:creator>
  <cp:lastModifiedBy>918882890778</cp:lastModifiedBy>
  <cp:revision>1</cp:revision>
  <dcterms:created xsi:type="dcterms:W3CDTF">2026-06-05T15:03:56Z</dcterms:created>
  <dcterms:modified xsi:type="dcterms:W3CDTF">2026-06-05T15:05:54Z</dcterms:modified>
</cp:coreProperties>
</file>