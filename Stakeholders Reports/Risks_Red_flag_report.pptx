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66E1-FFF4-52F8-B972-CFA2364F9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AA65A-988E-44CB-7DF6-E0E7FABF4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1C128-4345-2FB1-32C1-FA063C55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7FAE7-A233-6AC6-901E-1DE7257E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2BFC7-5166-A6AD-2E7E-9D5A4B63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0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B322-C132-6332-E94C-3B2EDA8E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BC5F9-6B02-A1B9-D94F-F36E1E06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68498-DD71-9373-EDFE-609DE478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0B6D8-16EE-266F-E4F6-945CA312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E663D-EFED-9C4B-291B-DA1547E7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2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0C52-A565-2CA4-487C-1E27EFBB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0D4D9-8094-39F3-D7BA-2A17E0C5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AFFC5-8984-B246-4BE6-DE42FC9B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02F9C-BEEB-1F6C-563B-37468DA5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5052-01DC-CBDD-DD05-1FC69A34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60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A67-C44D-3899-6C52-7B412185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6BB9-F935-ACDF-A866-EEEA66D38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CA9F0-A66A-5234-67D1-19E4093C3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8D808-0006-511B-01C5-DF3E8448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8F40B-7335-C5BA-0263-5A8C73C6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A59BE-8A5B-7DB0-8CC3-D27B2A23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20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9ECA-9222-86C9-E2D3-F4FDBF6D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E59B2-C7B2-840B-54C3-AD2224E5F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0B092-8383-7B48-114C-92D4C55C4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337B9-B3FB-F661-290B-A651E1E10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49818-8095-9AFD-3F04-46B32FA5C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56D54-4C61-2C36-A429-ACA2BD6B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9EF76-A053-10F0-4414-E7A4A250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1B58E-A9BD-94FB-765A-F0C952D7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7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A38F-5FEC-0671-1BBD-F45C968B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0E8AF-076C-9F28-6C12-CCBA0FF0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C3AD8-55D4-1F51-CCD2-E7FC83E0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173E3-D11B-4CB6-C35D-6134BFF0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11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77019-967E-B6F3-F499-4BCCBABA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75D5D-88D2-A939-7BAE-32ADA0CD5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D1896-DDB2-B42D-6B53-51C72D6D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0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6C0D-A717-0FEF-5197-9629D02E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C6501-E20F-D3BB-2768-0EFFC86BB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B129C-62BB-B2AE-2E57-BB875033D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8CD7F-F2D5-ECA6-8FF0-229C299C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525E2-6FC8-E777-0460-AC9F3A41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ED045-F90E-6BEB-3647-46F73872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73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3792-66D1-F1D1-D754-2AED8523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3EDF8-9E19-F11E-EC00-C968BC6B3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48B14-544E-B048-7141-96A8B3C0E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812F3-9F8D-C5C1-E7E0-E47CD0527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7A1BF-8814-60F3-1EF1-7CE53C82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EB6AA-BC33-2C4C-D01C-16ECC775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7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8BD3-83FC-2FCD-7660-AB8E9A47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F71EC-C71F-2A67-DFA6-E7067F7D3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6BAAB-8E9A-3787-8CF8-1F883FAE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884A-96A8-21B4-1728-F35BE407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82032-643E-4647-1398-CB758AE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81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5F601-63F1-F0E3-2A62-A1FB2BD25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CCE26-4C70-EA74-0BA2-58A2642B8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9EEE6-AC35-2A61-7325-96D04C07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D49F6-A6C8-DB22-B4A0-976775C6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AEFC6-CB2A-EE42-979C-9991D1794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0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DE057-B436-7013-A11E-B44BF306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0A56A-663B-C0BC-B4B8-16B9911CE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C5E81-C69C-4FAE-31A1-36D02B9B9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3164F-5336-4394-B68D-DCE68E9A94B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D1AF1-B6BA-9281-034F-0E1C867FB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AFC6-C7B1-CAC4-4745-B186EA884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941DF-4A17-46D2-911C-25FEC8B3D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10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EF24C-6B5F-184E-197A-3BEFA3741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874" y="1741195"/>
            <a:ext cx="7017767" cy="1797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A5FB04-A1EE-6722-8D3C-A49C45919BD0}"/>
              </a:ext>
            </a:extLst>
          </p:cNvPr>
          <p:cNvSpPr txBox="1"/>
          <p:nvPr/>
        </p:nvSpPr>
        <p:spPr>
          <a:xfrm>
            <a:off x="4727098" y="9087"/>
            <a:ext cx="273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RED FLAGS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BAA509F-7634-2409-26A9-4DEF3D221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40" y="978408"/>
            <a:ext cx="4432309" cy="2684680"/>
          </a:xfrm>
          <a:prstGeom prst="rect">
            <a:avLst/>
          </a:prstGeom>
        </p:spPr>
      </p:pic>
      <p:sp>
        <p:nvSpPr>
          <p:cNvPr id="30" name="Right Brace 29">
            <a:extLst>
              <a:ext uri="{FF2B5EF4-FFF2-40B4-BE49-F238E27FC236}">
                <a16:creationId xmlns:a16="http://schemas.microsoft.com/office/drawing/2014/main" id="{BC573CC9-DCD4-CCAC-FE4E-3BCB70037183}"/>
              </a:ext>
            </a:extLst>
          </p:cNvPr>
          <p:cNvSpPr/>
          <p:nvPr/>
        </p:nvSpPr>
        <p:spPr>
          <a:xfrm>
            <a:off x="4639449" y="1796058"/>
            <a:ext cx="286927" cy="168780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4E078-5840-E4A1-916C-62377C69B8FB}"/>
              </a:ext>
            </a:extLst>
          </p:cNvPr>
          <p:cNvSpPr txBox="1"/>
          <p:nvPr/>
        </p:nvSpPr>
        <p:spPr>
          <a:xfrm>
            <a:off x="88268" y="369332"/>
            <a:ext cx="807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 </a:t>
            </a:r>
            <a:r>
              <a:rPr lang="en-IN" sz="1400" i="1" dirty="0"/>
              <a:t>Which companies have 3 or more simultaneous red flags — negative OPM, high debt, low ROCE, and negative growth?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71AC4F-49F5-30D0-2235-158BAEB9B998}"/>
              </a:ext>
            </a:extLst>
          </p:cNvPr>
          <p:cNvSpPr txBox="1"/>
          <p:nvPr/>
        </p:nvSpPr>
        <p:spPr>
          <a:xfrm>
            <a:off x="207140" y="3912964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All listed companies carry exactly 3 red flags — none reached all 4 simultaneously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Indra Industries and Teral Tea Co. show extreme negative OPM alongside negative ROCE and negative sales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Textile and Trading sectors appear repeatedly — suggesting sectoral stress rather than isolated company failures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E826E6-263C-8385-F27F-63BBF71D9295}"/>
              </a:ext>
            </a:extLst>
          </p:cNvPr>
          <p:cNvSpPr txBox="1"/>
          <p:nvPr/>
        </p:nvSpPr>
        <p:spPr>
          <a:xfrm>
            <a:off x="207140" y="5270836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Presence of 3 simultaneous red flags strongly indicates structural distress, not cyclical downturn — these companies lack pricing power, carry excess debt, and are shrinking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Textile sector vulnerability reflects competition from cheaper imports and rising input costs squeezing margins from both 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Trading companies with negative OPM suggest they are selling below cost — possibly to maintain market share or service debt obligations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C1A95F-C818-BEB3-95D2-B7AC296C5FF1}"/>
              </a:ext>
            </a:extLst>
          </p:cNvPr>
          <p:cNvSpPr txBox="1"/>
          <p:nvPr/>
        </p:nvSpPr>
        <p:spPr>
          <a:xfrm>
            <a:off x="6338192" y="3528243"/>
            <a:ext cx="578044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Exclude all 3+ red flag companies from any investment screener immediately — risk-reward is un-</a:t>
            </a:r>
            <a:r>
              <a:rPr lang="en-IN" sz="1100" i="1" dirty="0" err="1"/>
              <a:t>favorable</a:t>
            </a:r>
            <a:r>
              <a:rPr lang="en-IN" sz="1100" i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Use this list as a short-selling watchlist or distress monitoring basket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Follow up with Altman Z-Score cross-check — high overlap expected with distress zone companies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357FC0-C19F-D724-76E0-DC01BA589ED4}"/>
              </a:ext>
            </a:extLst>
          </p:cNvPr>
          <p:cNvSpPr txBox="1"/>
          <p:nvPr/>
        </p:nvSpPr>
        <p:spPr>
          <a:xfrm>
            <a:off x="5089460" y="1415578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245E23-3C50-82FE-0A8D-FA2830640324}"/>
              </a:ext>
            </a:extLst>
          </p:cNvPr>
          <p:cNvSpPr txBox="1"/>
          <p:nvPr/>
        </p:nvSpPr>
        <p:spPr>
          <a:xfrm>
            <a:off x="88268" y="754052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90E4CC-6CB4-98D6-15E0-EFBC9BABEFF0}"/>
              </a:ext>
            </a:extLst>
          </p:cNvPr>
          <p:cNvCxnSpPr/>
          <p:nvPr/>
        </p:nvCxnSpPr>
        <p:spPr>
          <a:xfrm flipH="1">
            <a:off x="3694176" y="193753"/>
            <a:ext cx="1232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0E3D03F-E3DD-2522-37C3-A0116FC7787C}"/>
              </a:ext>
            </a:extLst>
          </p:cNvPr>
          <p:cNvCxnSpPr/>
          <p:nvPr/>
        </p:nvCxnSpPr>
        <p:spPr>
          <a:xfrm flipH="1">
            <a:off x="7275576" y="193753"/>
            <a:ext cx="1232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5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FD14FA-266B-B83F-2267-2552FC733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960" y="3279371"/>
            <a:ext cx="2779900" cy="5099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D667F2-28D0-AB75-3DE8-744B1FF9B3CF}"/>
              </a:ext>
            </a:extLst>
          </p:cNvPr>
          <p:cNvSpPr txBox="1"/>
          <p:nvPr/>
        </p:nvSpPr>
        <p:spPr>
          <a:xfrm>
            <a:off x="0" y="79806"/>
            <a:ext cx="8491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Companies with negative sales — is this a data quality issue or genuinely revenue-negative companies?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C31949-9DE3-44D2-A473-65FF5D16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1444153"/>
            <a:ext cx="5711869" cy="601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A29BF0-E872-2382-8491-6258FD387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04" y="899067"/>
            <a:ext cx="1760373" cy="1691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108D22-2688-0017-DB33-4E8B8A0C3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462" y="2829440"/>
            <a:ext cx="3444538" cy="1409822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0EFBE564-AC7B-FE03-7127-F2838C752530}"/>
              </a:ext>
            </a:extLst>
          </p:cNvPr>
          <p:cNvSpPr/>
          <p:nvPr/>
        </p:nvSpPr>
        <p:spPr>
          <a:xfrm>
            <a:off x="2432304" y="1060704"/>
            <a:ext cx="310896" cy="140982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B5A0C5B-B82E-0084-D99C-1042E0A9BD93}"/>
              </a:ext>
            </a:extLst>
          </p:cNvPr>
          <p:cNvSpPr/>
          <p:nvPr/>
        </p:nvSpPr>
        <p:spPr>
          <a:xfrm>
            <a:off x="6391656" y="3026664"/>
            <a:ext cx="347472" cy="121259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28A6B-1325-C889-45ED-E8814460298C}"/>
              </a:ext>
            </a:extLst>
          </p:cNvPr>
          <p:cNvSpPr txBox="1"/>
          <p:nvPr/>
        </p:nvSpPr>
        <p:spPr>
          <a:xfrm>
            <a:off x="136398" y="4503998"/>
            <a:ext cx="61036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Only 1 company — Gogia Capital (Finance &amp; Investments) — shows negative sales of -20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Operating profit and net profit are also negative, confirming this is not a data entry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Negative sales count by industry shows Finance &amp; Investments as the only sector affected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11B0DF-91AB-1CAD-494F-F161C3B2CC17}"/>
              </a:ext>
            </a:extLst>
          </p:cNvPr>
          <p:cNvSpPr txBox="1"/>
          <p:nvPr/>
        </p:nvSpPr>
        <p:spPr>
          <a:xfrm>
            <a:off x="136398" y="5433807"/>
            <a:ext cx="610362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In financial services, negative revenue can legitimately occur when trading losses, fee reversals, or mark-to-market losses exceed gross income — this is a real business scenario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Gogia Capital being a small Finance &amp; Investments entity suggests it may be an investment holding company that booked net losses on portfolio positions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Single company occurrence confirms this is not a dataset quality issue — it is an edge case reflecting genuine financial distress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65999-EB33-7B19-0E8B-B256F08F4AD3}"/>
              </a:ext>
            </a:extLst>
          </p:cNvPr>
          <p:cNvSpPr txBox="1"/>
          <p:nvPr/>
        </p:nvSpPr>
        <p:spPr>
          <a:xfrm>
            <a:off x="6739128" y="3865361"/>
            <a:ext cx="571186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Treat negative sales companies as un-investable from fundamental analysis perspective — no revenue base to build valuation 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Flag for regulatory check — SEBI filings should confirm whether revenue recognition follows proper accounting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Remove from ratio-based screening models as negative sales distort all margin and valuation calculations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FE1F3-F824-4204-7068-F3B4163DFDF1}"/>
              </a:ext>
            </a:extLst>
          </p:cNvPr>
          <p:cNvSpPr txBox="1"/>
          <p:nvPr/>
        </p:nvSpPr>
        <p:spPr>
          <a:xfrm>
            <a:off x="2987040" y="1167154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4F4F2B-9500-4A3E-CF5F-7C33EEFBCE81}"/>
              </a:ext>
            </a:extLst>
          </p:cNvPr>
          <p:cNvSpPr txBox="1"/>
          <p:nvPr/>
        </p:nvSpPr>
        <p:spPr>
          <a:xfrm>
            <a:off x="6854252" y="3020061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8811C-51DD-60C8-3D88-C52AA078B975}"/>
              </a:ext>
            </a:extLst>
          </p:cNvPr>
          <p:cNvSpPr txBox="1"/>
          <p:nvPr/>
        </p:nvSpPr>
        <p:spPr>
          <a:xfrm>
            <a:off x="380876" y="638868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0FD5FE-9417-EA14-CA77-42F6C5C37627}"/>
              </a:ext>
            </a:extLst>
          </p:cNvPr>
          <p:cNvSpPr txBox="1"/>
          <p:nvPr/>
        </p:nvSpPr>
        <p:spPr>
          <a:xfrm>
            <a:off x="2587752" y="2599998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369723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AF396CF-185F-B273-17BD-37E288FD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13637"/>
            <a:ext cx="6594400" cy="37810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5473CB-4531-C1E8-5BBD-F18A00F7F826}"/>
              </a:ext>
            </a:extLst>
          </p:cNvPr>
          <p:cNvSpPr txBox="1"/>
          <p:nvPr/>
        </p:nvSpPr>
        <p:spPr>
          <a:xfrm>
            <a:off x="69058" y="118742"/>
            <a:ext cx="8992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EPS negative companies — what is their market cap? Are any zombie companies loss-making yet overvalued?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4D2EB-8B8C-1D25-930F-C6004F4F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76" y="1357271"/>
            <a:ext cx="2941575" cy="2293819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FC40A086-17A5-FA0F-9D9F-73474F790030}"/>
              </a:ext>
            </a:extLst>
          </p:cNvPr>
          <p:cNvSpPr/>
          <p:nvPr/>
        </p:nvSpPr>
        <p:spPr>
          <a:xfrm>
            <a:off x="4224528" y="1357271"/>
            <a:ext cx="320040" cy="237348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F74EF-BFBC-BCCC-BD15-F67E812D38FB}"/>
              </a:ext>
            </a:extLst>
          </p:cNvPr>
          <p:cNvSpPr txBox="1"/>
          <p:nvPr/>
        </p:nvSpPr>
        <p:spPr>
          <a:xfrm>
            <a:off x="67870" y="4152060"/>
            <a:ext cx="506191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Tata Steel and Vodafone Idea lead with highest market caps despite negative EPS — both are large-cap distressed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Several mid-size companies like GMR Airports, Adani Biz. Fac., and IBI Infra Trust carry significant market caps with deeply negative net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Reliance Power at the bottom still commands ₹11,589 Cr market cap despite persistent losses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6E8CB-C0B9-D401-ACAA-2DEDB7B7C91D}"/>
              </a:ext>
            </a:extLst>
          </p:cNvPr>
          <p:cNvSpPr txBox="1"/>
          <p:nvPr/>
        </p:nvSpPr>
        <p:spPr>
          <a:xfrm>
            <a:off x="67870" y="5461985"/>
            <a:ext cx="518993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Large-cap zombie companies like Vodafone Idea survive on market perception of "too big to fail" and potential turnaround narratives — not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Infrastructure and Telecom sectors dominate this list — both are capital-intensive with long gestation periods, justifying some market patience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Retail investor sentiment and speculative trading often keep loss-making companies overvalued far beyond what fundamentals support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5F8B0-DA83-D551-CF31-EB2739AFF809}"/>
              </a:ext>
            </a:extLst>
          </p:cNvPr>
          <p:cNvSpPr txBox="1"/>
          <p:nvPr/>
        </p:nvSpPr>
        <p:spPr>
          <a:xfrm>
            <a:off x="5257800" y="4427378"/>
            <a:ext cx="65944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Avoid all EPS-negative high market cap companies unless a credible turnaround catalyst exists — earnings visibility is zero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Vodafone Idea and Reliance Power specifically carry existential risk — position sizing should reflect binary outcome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Cross-reference with promoter pledging data — high pledge + negative EPS + high market cap is the most dangerous combination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40479-942F-12DD-570A-13C5434926D0}"/>
              </a:ext>
            </a:extLst>
          </p:cNvPr>
          <p:cNvSpPr txBox="1"/>
          <p:nvPr/>
        </p:nvSpPr>
        <p:spPr>
          <a:xfrm>
            <a:off x="5257800" y="336638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D9817-9579-8E7B-906D-77D4305FBC91}"/>
              </a:ext>
            </a:extLst>
          </p:cNvPr>
          <p:cNvSpPr txBox="1"/>
          <p:nvPr/>
        </p:nvSpPr>
        <p:spPr>
          <a:xfrm>
            <a:off x="565276" y="1063946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14417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35E8128-D487-8428-D9D5-5208CE63670F}"/>
              </a:ext>
            </a:extLst>
          </p:cNvPr>
          <p:cNvSpPr txBox="1"/>
          <p:nvPr/>
        </p:nvSpPr>
        <p:spPr>
          <a:xfrm>
            <a:off x="84581" y="50314"/>
            <a:ext cx="9635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Build a Quality Growth screener — ROCE &gt; 15%, Profit Growth 5Y &gt; 15%, Debt-to-Profit &lt; 3, Current Ratio &gt; 1.5 — which companies pass?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03B2801-E442-4FB4-D07D-6B23B7AA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76" y="638970"/>
            <a:ext cx="5777103" cy="16724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2FB488-C025-A9C4-0ABD-7FFBD96B8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58" y="2481249"/>
            <a:ext cx="2521419" cy="2890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E45644-A809-2499-A21E-7D4676B65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92" y="638970"/>
            <a:ext cx="2872124" cy="2084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06C0D-1195-0EC6-0475-1ABF843CD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424" y="2871546"/>
            <a:ext cx="2692278" cy="1675044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DBF6D727-F5E2-0C8C-325E-0F1BFE0B0C83}"/>
              </a:ext>
            </a:extLst>
          </p:cNvPr>
          <p:cNvSpPr/>
          <p:nvPr/>
        </p:nvSpPr>
        <p:spPr>
          <a:xfrm>
            <a:off x="3658230" y="714265"/>
            <a:ext cx="265176" cy="151790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789B1D2-36C6-CBD6-58FB-6FE2BC634658}"/>
              </a:ext>
            </a:extLst>
          </p:cNvPr>
          <p:cNvSpPr/>
          <p:nvPr/>
        </p:nvSpPr>
        <p:spPr>
          <a:xfrm>
            <a:off x="6832892" y="3028686"/>
            <a:ext cx="265176" cy="151790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AA202-3E68-C1B9-5D19-2A631F5D7FFE}"/>
              </a:ext>
            </a:extLst>
          </p:cNvPr>
          <p:cNvSpPr txBox="1"/>
          <p:nvPr/>
        </p:nvSpPr>
        <p:spPr>
          <a:xfrm>
            <a:off x="84581" y="4609423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Only a handful of companies pass all 4 filters simultaneously — confirming quality growth is rare in Indian markets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Finance &amp; Investments and Computers Software sectors contribute most qualifying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All passing companies show ROCE well above threshold with manageable debt levels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AE9403-E2DD-0AF0-1166-74CC113E265A}"/>
              </a:ext>
            </a:extLst>
          </p:cNvPr>
          <p:cNvSpPr txBox="1"/>
          <p:nvPr/>
        </p:nvSpPr>
        <p:spPr>
          <a:xfrm>
            <a:off x="84581" y="5548142"/>
            <a:ext cx="613562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The rarity of companies passing all 4 filters confirms that sustainable quality growth with financial discipline is a genuine competitive moat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Software sector dominance reflects asset-light business models — low debt, high returns, and consistent profit growth are structural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Companies clearing this screener have demonstrated they can grow profitably without compromising balance sheet health — rare combination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9D751-76C2-48BA-AA58-E46518E65514}"/>
              </a:ext>
            </a:extLst>
          </p:cNvPr>
          <p:cNvSpPr txBox="1"/>
          <p:nvPr/>
        </p:nvSpPr>
        <p:spPr>
          <a:xfrm>
            <a:off x="6832892" y="5403656"/>
            <a:ext cx="513395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This screener output is a ready-made high-conviction watchlist — prioritize deeper fundamental research on these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Add dividend yield or free cash flow filter to further refine — quality companies that also return cash are the strongest long-term holds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6F16E-E5A2-12AF-9BED-32DAFA1A1CC2}"/>
              </a:ext>
            </a:extLst>
          </p:cNvPr>
          <p:cNvSpPr txBox="1"/>
          <p:nvPr/>
        </p:nvSpPr>
        <p:spPr>
          <a:xfrm>
            <a:off x="4467668" y="366900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3BF7F3-00C6-A391-317E-8EED9D82F8CB}"/>
              </a:ext>
            </a:extLst>
          </p:cNvPr>
          <p:cNvSpPr txBox="1"/>
          <p:nvPr/>
        </p:nvSpPr>
        <p:spPr>
          <a:xfrm>
            <a:off x="7216541" y="2232169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A23258-CE3E-7E6A-54CC-5B3BDD1F8309}"/>
              </a:ext>
            </a:extLst>
          </p:cNvPr>
          <p:cNvSpPr txBox="1"/>
          <p:nvPr/>
        </p:nvSpPr>
        <p:spPr>
          <a:xfrm>
            <a:off x="466892" y="435034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756F15-2DBA-3007-9056-A5F1B1A630F2}"/>
              </a:ext>
            </a:extLst>
          </p:cNvPr>
          <p:cNvSpPr txBox="1"/>
          <p:nvPr/>
        </p:nvSpPr>
        <p:spPr>
          <a:xfrm>
            <a:off x="3856908" y="2635619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329084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AE7CEC8-61C4-F60E-A17B-F134C8D8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341" y="686902"/>
            <a:ext cx="6046840" cy="361197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DF3F9A6-A092-9D0A-DFFA-0DD81107893B}"/>
              </a:ext>
            </a:extLst>
          </p:cNvPr>
          <p:cNvSpPr txBox="1"/>
          <p:nvPr/>
        </p:nvSpPr>
        <p:spPr>
          <a:xfrm>
            <a:off x="252986" y="163682"/>
            <a:ext cx="9073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Sector rotation perspective — which sectors have reasonable valuation (EV/EBITDA) and strong fundamentals for next 3–5 years?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D6C6F-8C5C-C074-F374-423F37F90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6" y="1280037"/>
            <a:ext cx="5015246" cy="2432427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3E29A3E6-BFDA-A9E3-4FB2-927E3957551E}"/>
              </a:ext>
            </a:extLst>
          </p:cNvPr>
          <p:cNvSpPr/>
          <p:nvPr/>
        </p:nvSpPr>
        <p:spPr>
          <a:xfrm>
            <a:off x="5394960" y="1472184"/>
            <a:ext cx="384048" cy="19568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CAA05-439D-7B46-6806-FD6980ED87C9}"/>
              </a:ext>
            </a:extLst>
          </p:cNvPr>
          <p:cNvSpPr txBox="1"/>
          <p:nvPr/>
        </p:nvSpPr>
        <p:spPr>
          <a:xfrm>
            <a:off x="121158" y="4131943"/>
            <a:ext cx="54658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Chemicals, Electronics Consumer, and Healthcare appear with </a:t>
            </a:r>
            <a:r>
              <a:rPr lang="en-IN" sz="1100" i="1" dirty="0" err="1"/>
              <a:t>favorable</a:t>
            </a:r>
            <a:r>
              <a:rPr lang="en-IN" sz="1100" i="1" dirty="0"/>
              <a:t> EV/EBITDA alongside strong average ROCE and profit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Finance &amp; Investments shows up with high company count but average metrics — driven by sheer sector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Steel and Construction appear with moderate valuations but lower growth consistency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0DBC4-B560-170C-FC26-03E997EFDDFD}"/>
              </a:ext>
            </a:extLst>
          </p:cNvPr>
          <p:cNvSpPr txBox="1"/>
          <p:nvPr/>
        </p:nvSpPr>
        <p:spPr>
          <a:xfrm>
            <a:off x="121158" y="5492765"/>
            <a:ext cx="565785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Chemicals sector benefits from China+1 sourcing shift — global buyers diversifying supply chains are driving structural demand growth in Indian specialty chemicals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Healthcare combines defensive characteristics with export growth potential — US generics recovery and domestic chronic disease burden support multi-year earnings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Electronics Consumer is an early-stage growth sector — government PLI schemes are compressing the investment cycle and accelerating domestic manufacturing scale-up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B0E20-D8E3-47D1-6500-EC54F5A8DEF9}"/>
              </a:ext>
            </a:extLst>
          </p:cNvPr>
          <p:cNvSpPr txBox="1"/>
          <p:nvPr/>
        </p:nvSpPr>
        <p:spPr>
          <a:xfrm>
            <a:off x="5779008" y="4298881"/>
            <a:ext cx="60468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Overweight Chemicals and Healthcare for next 3–5 year sector rotation — both offer growth at reasonable valuation with strong fundamental backing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Treat Steel and Construction as tactical plays only — buy on deep corrections, exit on valuation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Build a sector-level EV/EBITDA tracking dashboard — rebalance allocation when any sector's average crosses 20x as valuation buffer shrinks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85305-E0F3-EF90-158E-DD55BE82C767}"/>
              </a:ext>
            </a:extLst>
          </p:cNvPr>
          <p:cNvSpPr txBox="1"/>
          <p:nvPr/>
        </p:nvSpPr>
        <p:spPr>
          <a:xfrm>
            <a:off x="5910341" y="409903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24976-BD40-A613-EC24-5BDEBD0643AF}"/>
              </a:ext>
            </a:extLst>
          </p:cNvPr>
          <p:cNvSpPr txBox="1"/>
          <p:nvPr/>
        </p:nvSpPr>
        <p:spPr>
          <a:xfrm>
            <a:off x="234819" y="1015125"/>
            <a:ext cx="665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45669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Office PowerPoint</Application>
  <PresentationFormat>Widescreen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2026-06-06T06:55:18Z</dcterms:created>
  <dcterms:modified xsi:type="dcterms:W3CDTF">2026-06-06T06:55:45Z</dcterms:modified>
</cp:coreProperties>
</file>