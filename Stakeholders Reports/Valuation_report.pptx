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0151-7E0F-4F9F-E38F-7803069A8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08B62-0A8D-244D-1B2E-3667F27B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6CE0F-A622-8238-5313-0BE91121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C0224-5D4F-D110-E4AA-2B602A66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2DDBC-966D-67F4-21F7-85A7C830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97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8578-8B06-A5AA-2815-D1B2EE5B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D537-00E9-0EBF-BCB1-68CE19883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59E60-D56E-A814-617D-E0F24622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DB2A9-170B-BED1-6D78-4A4A2E933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EF46E-BE07-20EF-8611-2D3C6EA1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D50E6-98C3-B753-7742-78F398AE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28E6B-55E0-19D1-A563-8EC2A418E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27CA2-2EB2-9AC7-360F-90E2C11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589BF-FC27-7107-3883-3C1766A0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17637-CCAF-E4C8-146B-C9FA6DBF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6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1BD0-9FE2-62C3-FF2E-18DB3641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E2D8D-D3E6-AC0D-045E-9B425C8E0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4FA0E-29CD-A6BF-3412-54BD68458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1C0A0-45CC-E33D-DEFC-6BAFFED2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91E2-37D6-5C65-379C-30CAACDA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9706-973D-A1D4-DDD7-8B2C5415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52CA-3491-CF36-C09E-2B4FFE07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0E4B4-5A85-80A5-3F3F-01CB0DA43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39071-A17F-637C-F85C-8EC5F6ED0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F97ABC-B182-80C5-34A5-22E38F322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AAF-2B52-775F-16CB-1D73EDEE0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A1280-D2FA-D1E5-8A4C-40502F96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96EAAC-70CE-7A7A-7A64-8EA07CB1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85F33-8B12-EED7-5391-2790B5BD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8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204E-AB13-3DA0-2259-09589E91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FDA88-BB98-7AA4-73DF-D06E14A0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A83B7-94D7-CFA6-1D3F-6F82ED87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00BD4-9A1B-8500-2BD4-01927140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57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6373FB-F9B2-BF55-654D-36748882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1248C3-F541-5650-5279-8D090128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FDBFC-3E8B-8F9D-7842-0144A49EE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17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6130-83B3-7966-4F7E-3021D5536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A698F-1259-1365-3D0C-E1F07BE75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B3CC-090E-A233-8492-D6692168B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F3610-E8A7-B2F1-282F-3CB05B039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D27E3-CDE3-542D-550B-0DAB6422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56E43-19C4-CB28-496D-C58A23A79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03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1562-CB43-BDE7-7CFD-4DD9E885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73A72C-3F8E-4344-C2AF-6FC89889C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EF50F-A3CC-75E4-7AE1-868F8BD9E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1CAB3-E00B-286E-DCE5-59924FDB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E4C1D-C52B-728D-E749-62CA2543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03ACF-00E4-7927-2A75-A7437533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1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01F4-5E91-9FFB-72EA-E34BF9EC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97FF3-B164-42E6-665F-9DF3105F4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1CA65-DC15-77CB-E7F0-1B5B6DD6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91669-5581-27FC-7593-8E9D4EFA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885B-F60C-06E5-32D7-82DDAB16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96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A592A8-1729-A2D0-B5D8-A328E12C4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160EE-B1DA-F1EC-2A6B-297C8C4D6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8717A-B313-8D04-1E53-628382BC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F0309-FFD9-C1AD-0E3D-0202CD52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FD342-483F-731D-EE44-674B9A47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46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773B8-8C03-AA65-AE4F-D7EB9EB68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21F8D-312E-9EE3-EECE-F7B5E21B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0D0F8-9F91-7ADB-2A6C-2ADDAD92B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9ACD6-F730-46B2-8EDA-EA9273BE24E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B08E3-DEA1-9D92-C3CF-B263F2D02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8BE8A-26F9-8FA1-CE6D-A04CC384B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C26CC-115B-480D-9DD2-924987138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941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373506-DA54-1519-83AB-4BD17409329B}"/>
              </a:ext>
            </a:extLst>
          </p:cNvPr>
          <p:cNvSpPr txBox="1"/>
          <p:nvPr/>
        </p:nvSpPr>
        <p:spPr>
          <a:xfrm>
            <a:off x="3048762" y="5731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 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393E6-99A8-C683-FEC9-385159E73B4A}"/>
              </a:ext>
            </a:extLst>
          </p:cNvPr>
          <p:cNvSpPr txBox="1"/>
          <p:nvPr/>
        </p:nvSpPr>
        <p:spPr>
          <a:xfrm>
            <a:off x="240030" y="426643"/>
            <a:ext cx="86753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7</a:t>
            </a:r>
            <a:r>
              <a:rPr lang="en-IN" sz="1400" i="1" dirty="0"/>
              <a:t>: Identify companies with EV/EBITDA below 10x and ROCE above 15% — are these value opportunities and which sectors dominate?</a:t>
            </a:r>
          </a:p>
          <a:p>
            <a:endParaRPr lang="en-IN" sz="14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9C770A-CDD4-2011-569F-4942CFF2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606" y="1171772"/>
            <a:ext cx="5548122" cy="24949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DEA36E0-09AB-02C8-FF9B-AD73BFE96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03" y="1512342"/>
            <a:ext cx="5273497" cy="210330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00198F3-08D7-885B-BB82-854840F45B4E}"/>
              </a:ext>
            </a:extLst>
          </p:cNvPr>
          <p:cNvSpPr txBox="1"/>
          <p:nvPr/>
        </p:nvSpPr>
        <p:spPr>
          <a:xfrm>
            <a:off x="105918" y="4013738"/>
            <a:ext cx="609447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Finance &amp; Investments has the highest concentration of value-pick companies meeting both valuation and return criteria.</a:t>
            </a:r>
            <a:br>
              <a:rPr lang="en-IN" sz="1100" i="1" dirty="0"/>
            </a:br>
            <a:r>
              <a:rPr lang="en-IN" sz="1100" i="1" dirty="0"/>
              <a:t>• Trading, Construction, and Technology-related sectors also show meaningful representation.</a:t>
            </a:r>
            <a:br>
              <a:rPr lang="en-IN" sz="1100" i="1" dirty="0"/>
            </a:br>
            <a:r>
              <a:rPr lang="en-IN" sz="1100" i="1" dirty="0"/>
              <a:t>• Most selected sectors maintain healthy ROCE despite relatively lower valuation multiples.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BC72AC-B847-EE7E-FA9C-BD74430E79BC}"/>
              </a:ext>
            </a:extLst>
          </p:cNvPr>
          <p:cNvSpPr txBox="1"/>
          <p:nvPr/>
        </p:nvSpPr>
        <p:spPr>
          <a:xfrm>
            <a:off x="105918" y="5132230"/>
            <a:ext cx="60944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Low EV/EBITDA combined with strong ROCE may indicate undervalued businesses with efficient capital utilization.</a:t>
            </a:r>
            <a:br>
              <a:rPr lang="en-IN" sz="1100" i="1" dirty="0"/>
            </a:br>
            <a:r>
              <a:rPr lang="en-IN" sz="1100" i="1" dirty="0"/>
              <a:t>• Sector concentration suggests investors may be discounting cyclical or perception-related risks despite operational strength.</a:t>
            </a:r>
            <a:br>
              <a:rPr lang="en-IN" sz="1100" i="1" dirty="0"/>
            </a:br>
            <a:r>
              <a:rPr lang="en-IN" sz="1100" i="1" dirty="0"/>
              <a:t>• These companies may offer stronger risk-adjusted return potential if profitability remains sustainable.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AC2D7B-3A3E-B9CE-6FBD-85399E3E5D8C}"/>
              </a:ext>
            </a:extLst>
          </p:cNvPr>
          <p:cNvSpPr txBox="1"/>
          <p:nvPr/>
        </p:nvSpPr>
        <p:spPr>
          <a:xfrm>
            <a:off x="6097524" y="3713656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Validate whether low valuation is due to temporary market sentiment or structural weakness.</a:t>
            </a:r>
            <a:br>
              <a:rPr lang="en-IN" sz="1100" i="1" dirty="0"/>
            </a:br>
            <a:r>
              <a:rPr lang="en-IN" sz="1100" i="1" dirty="0"/>
              <a:t>• Prioritize companies with stable cash flow and consistent ROCE trends.</a:t>
            </a:r>
            <a:br>
              <a:rPr lang="en-IN" sz="1100" i="1" dirty="0"/>
            </a:br>
            <a:r>
              <a:rPr lang="en-IN" sz="1100" i="1" dirty="0"/>
              <a:t>• Compare with peer valuation before investment decisions.</a:t>
            </a:r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406CAD07-5F85-AF7D-9CDE-8E5D42D14254}"/>
              </a:ext>
            </a:extLst>
          </p:cNvPr>
          <p:cNvSpPr/>
          <p:nvPr/>
        </p:nvSpPr>
        <p:spPr>
          <a:xfrm>
            <a:off x="5523896" y="1290623"/>
            <a:ext cx="383729" cy="225722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857098-B11A-BE85-494E-08C603D407B2}"/>
              </a:ext>
            </a:extLst>
          </p:cNvPr>
          <p:cNvSpPr txBox="1"/>
          <p:nvPr/>
        </p:nvSpPr>
        <p:spPr>
          <a:xfrm>
            <a:off x="5962489" y="894773"/>
            <a:ext cx="65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2447C1-3952-F571-C5CF-FE00A3C0F139}"/>
              </a:ext>
            </a:extLst>
          </p:cNvPr>
          <p:cNvSpPr txBox="1"/>
          <p:nvPr/>
        </p:nvSpPr>
        <p:spPr>
          <a:xfrm>
            <a:off x="324231" y="1267002"/>
            <a:ext cx="65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396459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572CFB3-9378-8147-9775-19005A3AD3D1}"/>
              </a:ext>
            </a:extLst>
          </p:cNvPr>
          <p:cNvSpPr txBox="1"/>
          <p:nvPr/>
        </p:nvSpPr>
        <p:spPr>
          <a:xfrm>
            <a:off x="172148" y="129049"/>
            <a:ext cx="8505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8</a:t>
            </a:r>
            <a:r>
              <a:rPr lang="en-IN" sz="1400" i="1" dirty="0"/>
              <a:t>: Compare Price-to-Sales ratio vs Market Cap-to-Sales — are there significant differences indicating accounting anomalies?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401797-FF59-C430-777B-A40F2652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552" y="1912520"/>
            <a:ext cx="5121084" cy="624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5030CE-A851-4480-6E6C-10B349687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52" y="1257129"/>
            <a:ext cx="5519988" cy="2053000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C7BDC2DD-0CE6-3E3E-DEF6-3CBB21846974}"/>
              </a:ext>
            </a:extLst>
          </p:cNvPr>
          <p:cNvSpPr/>
          <p:nvPr/>
        </p:nvSpPr>
        <p:spPr>
          <a:xfrm>
            <a:off x="6096000" y="1188720"/>
            <a:ext cx="360639" cy="212140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3774C-A839-8825-15AF-F78FD2ADE92A}"/>
              </a:ext>
            </a:extLst>
          </p:cNvPr>
          <p:cNvSpPr txBox="1"/>
          <p:nvPr/>
        </p:nvSpPr>
        <p:spPr>
          <a:xfrm>
            <a:off x="172148" y="4014461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Only a very limited number of companies show a noticeable gap between the two valuation measures.</a:t>
            </a:r>
            <a:br>
              <a:rPr lang="en-IN" sz="1100" i="1" dirty="0"/>
            </a:br>
            <a:r>
              <a:rPr lang="en-IN" sz="1100" i="1" dirty="0"/>
              <a:t>• The observed difference appears materially large relative to the reported ratios.</a:t>
            </a:r>
            <a:br>
              <a:rPr lang="en-IN" sz="1100" i="1" dirty="0"/>
            </a:br>
            <a:r>
              <a:rPr lang="en-IN" sz="1100" i="1" dirty="0"/>
              <a:t>• The variation suggests inconsistency between pricing and reported sales-based valuation metrics.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1A98C-C03F-A10C-E1B5-A29209EB0A94}"/>
              </a:ext>
            </a:extLst>
          </p:cNvPr>
          <p:cNvSpPr txBox="1"/>
          <p:nvPr/>
        </p:nvSpPr>
        <p:spPr>
          <a:xfrm>
            <a:off x="172148" y="5135069"/>
            <a:ext cx="609447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Large gaps may arise from differences in calculation methodology, capital structure, or reporting adjustments.</a:t>
            </a:r>
            <a:br>
              <a:rPr lang="en-IN" sz="1100" i="1" dirty="0"/>
            </a:br>
            <a:r>
              <a:rPr lang="en-IN" sz="1100" i="1" dirty="0"/>
              <a:t>• Such divergence can indicate that traditional valuation multiples may not fully reflect economic value.</a:t>
            </a:r>
            <a:br>
              <a:rPr lang="en-IN" sz="1100" i="1" dirty="0"/>
            </a:br>
            <a:r>
              <a:rPr lang="en-IN" sz="1100" i="1" dirty="0"/>
              <a:t>• This requires validation before using valuation conclusions.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D4E8FE-4BFF-FE8E-2DF4-1F85137FC481}"/>
              </a:ext>
            </a:extLst>
          </p:cNvPr>
          <p:cNvSpPr txBox="1"/>
          <p:nvPr/>
        </p:nvSpPr>
        <p:spPr>
          <a:xfrm>
            <a:off x="6829552" y="3310128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Reconcile formula definitions and underlying financial inputs.</a:t>
            </a:r>
            <a:br>
              <a:rPr lang="en-IN" sz="1100" i="1" dirty="0"/>
            </a:br>
            <a:r>
              <a:rPr lang="en-IN" sz="1100" i="1" dirty="0"/>
              <a:t>• Review share count, consolidated reporting, and revenue treatment.</a:t>
            </a:r>
            <a:br>
              <a:rPr lang="en-IN" sz="1100" i="1" dirty="0"/>
            </a:br>
            <a:r>
              <a:rPr lang="en-IN" sz="1100" i="1" dirty="0"/>
              <a:t>• Flag extreme deviations for deeper financial due diligence.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F946F3-7364-3471-B50D-2BBB8E461B34}"/>
              </a:ext>
            </a:extLst>
          </p:cNvPr>
          <p:cNvSpPr txBox="1"/>
          <p:nvPr/>
        </p:nvSpPr>
        <p:spPr>
          <a:xfrm>
            <a:off x="6784807" y="1565700"/>
            <a:ext cx="65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CCBDD-D508-68C0-A280-A2DC21B0B3EE}"/>
              </a:ext>
            </a:extLst>
          </p:cNvPr>
          <p:cNvSpPr txBox="1"/>
          <p:nvPr/>
        </p:nvSpPr>
        <p:spPr>
          <a:xfrm>
            <a:off x="277100" y="1003436"/>
            <a:ext cx="65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246430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A33CF69-79CF-E8D7-BA50-A868668DE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30289"/>
            <a:ext cx="5828492" cy="1853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2F9888-62D1-861B-0F4B-127BD32CB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15935"/>
            <a:ext cx="5828492" cy="18535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90CE63-CDD4-378D-9A2D-C93E727DFA4E}"/>
              </a:ext>
            </a:extLst>
          </p:cNvPr>
          <p:cNvSpPr txBox="1"/>
          <p:nvPr/>
        </p:nvSpPr>
        <p:spPr>
          <a:xfrm>
            <a:off x="85540" y="75007"/>
            <a:ext cx="9259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9</a:t>
            </a:r>
            <a:r>
              <a:rPr lang="en-IN" sz="1400" i="1" dirty="0"/>
              <a:t>: Compare Intrinsic Value vs Current Price — how many companies are undervalued (30%+) and how many are 2x+ overvalued?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18A49-0510-20D9-2505-7F024C8DF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506428"/>
            <a:ext cx="4276118" cy="2287896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3FDD8B46-8A8A-4C4D-C999-15EF24C92479}"/>
              </a:ext>
            </a:extLst>
          </p:cNvPr>
          <p:cNvSpPr/>
          <p:nvPr/>
        </p:nvSpPr>
        <p:spPr>
          <a:xfrm>
            <a:off x="4983480" y="1014984"/>
            <a:ext cx="573603" cy="337413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85220-E781-A788-648B-5C9819B033C7}"/>
              </a:ext>
            </a:extLst>
          </p:cNvPr>
          <p:cNvSpPr txBox="1"/>
          <p:nvPr/>
        </p:nvSpPr>
        <p:spPr>
          <a:xfrm>
            <a:off x="267508" y="4569518"/>
            <a:ext cx="54474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The dataset shows a larger presence of extreme valuation gaps on both undervalued and overvalued sides.</a:t>
            </a:r>
            <a:br>
              <a:rPr lang="en-IN" sz="1100" i="1" dirty="0"/>
            </a:br>
            <a:r>
              <a:rPr lang="en-IN" sz="1100" i="1" dirty="0"/>
              <a:t>• Several companies trade substantially below estimated intrinsic value, while others trade at multiples far above intrinsic estimates.</a:t>
            </a:r>
            <a:br>
              <a:rPr lang="en-IN" sz="1100" i="1" dirty="0"/>
            </a:br>
            <a:r>
              <a:rPr lang="en-IN" sz="1100" i="1" dirty="0"/>
              <a:t>• Finance-related sectors appear repeatedly in the undervalued list.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F2483-486F-2DBD-E2C5-7DBB2BA7B533}"/>
              </a:ext>
            </a:extLst>
          </p:cNvPr>
          <p:cNvSpPr txBox="1"/>
          <p:nvPr/>
        </p:nvSpPr>
        <p:spPr>
          <a:xfrm>
            <a:off x="267508" y="5677514"/>
            <a:ext cx="58284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Deep undervaluation may reflect weak sentiment, liquidity constraints, or perceived business risk.</a:t>
            </a:r>
            <a:br>
              <a:rPr lang="en-IN" sz="1100" i="1" dirty="0"/>
            </a:br>
            <a:r>
              <a:rPr lang="en-IN" sz="1100" i="1" dirty="0"/>
              <a:t>• Extreme overvaluation often signals high growth expectations already priced into the market.</a:t>
            </a:r>
            <a:br>
              <a:rPr lang="en-IN" sz="1100" i="1" dirty="0"/>
            </a:br>
            <a:r>
              <a:rPr lang="en-IN" sz="1100" i="1" dirty="0"/>
              <a:t>• Intrinsic value alone should not drive decisions without growth and quality validation.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A949D8-2A72-18FD-CE04-FA8B99A5F142}"/>
              </a:ext>
            </a:extLst>
          </p:cNvPr>
          <p:cNvSpPr txBox="1"/>
          <p:nvPr/>
        </p:nvSpPr>
        <p:spPr>
          <a:xfrm>
            <a:off x="6096000" y="4569519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Prioritize undervalued companies with improving fundamentals.</a:t>
            </a:r>
            <a:br>
              <a:rPr lang="en-IN" sz="1100" i="1" dirty="0"/>
            </a:br>
            <a:r>
              <a:rPr lang="en-IN" sz="1100" i="1" dirty="0"/>
              <a:t>• Avoid overvalued names unless supported by sustainable growth.</a:t>
            </a:r>
            <a:br>
              <a:rPr lang="en-IN" sz="1100" i="1" dirty="0"/>
            </a:br>
            <a:r>
              <a:rPr lang="en-IN" sz="1100" i="1" dirty="0"/>
              <a:t>• Combine valuation with profitability and cash flow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281C87-B67D-8CCB-FB92-DA367E874FD9}"/>
              </a:ext>
            </a:extLst>
          </p:cNvPr>
          <p:cNvSpPr txBox="1"/>
          <p:nvPr/>
        </p:nvSpPr>
        <p:spPr>
          <a:xfrm>
            <a:off x="6096000" y="459727"/>
            <a:ext cx="65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6B8560-81DC-C6B7-18D9-8A4B7F566678}"/>
              </a:ext>
            </a:extLst>
          </p:cNvPr>
          <p:cNvSpPr txBox="1"/>
          <p:nvPr/>
        </p:nvSpPr>
        <p:spPr>
          <a:xfrm>
            <a:off x="313228" y="1250726"/>
            <a:ext cx="65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348009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DB2B08B-D76F-A352-4E01-1473904AF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783259"/>
            <a:ext cx="5423090" cy="423463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642F7EC-7D12-B4AD-E07D-74578B7DB5EA}"/>
              </a:ext>
            </a:extLst>
          </p:cNvPr>
          <p:cNvSpPr txBox="1"/>
          <p:nvPr/>
        </p:nvSpPr>
        <p:spPr>
          <a:xfrm>
            <a:off x="131000" y="124001"/>
            <a:ext cx="78425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11</a:t>
            </a:r>
            <a:r>
              <a:rPr lang="en-IN" sz="1400" i="1" dirty="0"/>
              <a:t>: Identify high-growth companies with PEG ratio below 1 (Growth at a reasonable price).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864EF-01FB-9489-F252-9E4296818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54" y="1783080"/>
            <a:ext cx="1958510" cy="2133785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D8DB89CB-B862-431F-6742-DD37967B008C}"/>
              </a:ext>
            </a:extLst>
          </p:cNvPr>
          <p:cNvSpPr/>
          <p:nvPr/>
        </p:nvSpPr>
        <p:spPr>
          <a:xfrm>
            <a:off x="2843784" y="1748120"/>
            <a:ext cx="374630" cy="220370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C27FA-58BA-85B0-75D7-BD5B6C186581}"/>
              </a:ext>
            </a:extLst>
          </p:cNvPr>
          <p:cNvSpPr txBox="1"/>
          <p:nvPr/>
        </p:nvSpPr>
        <p:spPr>
          <a:xfrm>
            <a:off x="131000" y="4399555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Multiple companies qualify with PEG below 1, indicating earnings growth exceeds valuation multiples.</a:t>
            </a:r>
            <a:br>
              <a:rPr lang="en-IN" sz="1100" i="1" dirty="0"/>
            </a:br>
            <a:r>
              <a:rPr lang="en-IN" sz="1100" i="1" dirty="0"/>
              <a:t>• Finance &amp; Investments, Trading, and Construction appear frequently in the selection.</a:t>
            </a:r>
            <a:br>
              <a:rPr lang="en-IN" sz="1100" i="1" dirty="0"/>
            </a:br>
            <a:r>
              <a:rPr lang="en-IN" sz="1100" i="1" dirty="0"/>
              <a:t>• Several names combine strong EPS growth with relatively moderate market pricing.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70C2F3-2E90-DB50-6115-2C4A1AAA9F55}"/>
              </a:ext>
            </a:extLst>
          </p:cNvPr>
          <p:cNvSpPr txBox="1"/>
          <p:nvPr/>
        </p:nvSpPr>
        <p:spPr>
          <a:xfrm>
            <a:off x="131000" y="5410885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Low PEG companies may represent attractive growth opportunities not fully recognized by the market.</a:t>
            </a:r>
            <a:br>
              <a:rPr lang="en-IN" sz="1100" i="1" dirty="0"/>
            </a:br>
            <a:r>
              <a:rPr lang="en-IN" sz="1100" i="1" dirty="0"/>
              <a:t>• Sector concentration suggests selective pockets of growth remain reasonably valued.</a:t>
            </a:r>
            <a:br>
              <a:rPr lang="en-IN" sz="1100" i="1" dirty="0"/>
            </a:br>
            <a:r>
              <a:rPr lang="en-IN" sz="1100" i="1" dirty="0"/>
              <a:t>• However, growth sustainability remains the key differentiator.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ADDE1B-5E8C-0D36-FC51-919F35B6785A}"/>
              </a:ext>
            </a:extLst>
          </p:cNvPr>
          <p:cNvSpPr txBox="1"/>
          <p:nvPr/>
        </p:nvSpPr>
        <p:spPr>
          <a:xfrm>
            <a:off x="6307772" y="5026164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Focus on companies with consistent earnings growth and healthy margins.</a:t>
            </a:r>
            <a:br>
              <a:rPr lang="en-IN" sz="1100" i="1" dirty="0"/>
            </a:br>
            <a:r>
              <a:rPr lang="en-IN" sz="1100" i="1" dirty="0"/>
              <a:t>• Validate that growth is operational rather than one-time driven.</a:t>
            </a:r>
            <a:br>
              <a:rPr lang="en-IN" sz="1100" i="1" dirty="0"/>
            </a:br>
            <a:r>
              <a:rPr lang="en-IN" sz="1100" i="1" dirty="0"/>
              <a:t>• Track earnings revisions and valuation re-rating potential.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31BBE8-FEF4-5E30-C111-0533DA5EDD02}"/>
              </a:ext>
            </a:extLst>
          </p:cNvPr>
          <p:cNvSpPr txBox="1"/>
          <p:nvPr/>
        </p:nvSpPr>
        <p:spPr>
          <a:xfrm>
            <a:off x="377254" y="1506081"/>
            <a:ext cx="65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Query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8ACD08-9FA6-D835-10F8-EA9B3C4DB616}"/>
              </a:ext>
            </a:extLst>
          </p:cNvPr>
          <p:cNvSpPr txBox="1"/>
          <p:nvPr/>
        </p:nvSpPr>
        <p:spPr>
          <a:xfrm>
            <a:off x="6391656" y="506260"/>
            <a:ext cx="656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i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2961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918882890778</dc:creator>
  <cp:lastModifiedBy>918882890778</cp:lastModifiedBy>
  <cp:revision>1</cp:revision>
  <dcterms:created xsi:type="dcterms:W3CDTF">2026-06-05T17:09:06Z</dcterms:created>
  <dcterms:modified xsi:type="dcterms:W3CDTF">2026-06-05T17:09:37Z</dcterms:modified>
</cp:coreProperties>
</file>